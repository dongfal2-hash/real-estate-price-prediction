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2" d="100"/>
          <a:sy n="122" d="100"/>
        </p:scale>
        <p:origin x="39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6892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230368" y="1874520"/>
            <a:ext cx="274320" cy="274320"/>
          </a:xfrm>
          <a:prstGeom prst="ellipse">
            <a:avLst/>
          </a:prstGeom>
          <a:solidFill>
            <a:srgbClr val="1F6FA8"/>
          </a:solidFill>
          <a:ln/>
        </p:spPr>
        <p:txBody>
          <a:bodyPr/>
          <a:lstStyle/>
          <a:p>
            <a:endParaRPr lang="en-US"/>
          </a:p>
        </p:txBody>
      </p:sp>
      <p:sp>
        <p:nvSpPr>
          <p:cNvPr id="3" name="Shape 1"/>
          <p:cNvSpPr/>
          <p:nvPr/>
        </p:nvSpPr>
        <p:spPr>
          <a:xfrm>
            <a:off x="5596128" y="1874520"/>
            <a:ext cx="274320" cy="274320"/>
          </a:xfrm>
          <a:prstGeom prst="ellipse">
            <a:avLst/>
          </a:prstGeom>
          <a:solidFill>
            <a:srgbClr val="7C4DA8"/>
          </a:solidFill>
          <a:ln/>
        </p:spPr>
        <p:txBody>
          <a:bodyPr/>
          <a:lstStyle/>
          <a:p>
            <a:endParaRPr lang="en-US"/>
          </a:p>
        </p:txBody>
      </p:sp>
      <p:sp>
        <p:nvSpPr>
          <p:cNvPr id="4" name="Shape 2"/>
          <p:cNvSpPr/>
          <p:nvPr/>
        </p:nvSpPr>
        <p:spPr>
          <a:xfrm>
            <a:off x="5961888" y="1874520"/>
            <a:ext cx="274320" cy="274320"/>
          </a:xfrm>
          <a:prstGeom prst="ellipse">
            <a:avLst/>
          </a:prstGeom>
          <a:solidFill>
            <a:srgbClr val="2E8B57"/>
          </a:solidFill>
          <a:ln/>
        </p:spPr>
        <p:txBody>
          <a:bodyPr/>
          <a:lstStyle/>
          <a:p>
            <a:endParaRPr lang="en-US"/>
          </a:p>
        </p:txBody>
      </p:sp>
      <p:sp>
        <p:nvSpPr>
          <p:cNvPr id="5" name="Shape 3"/>
          <p:cNvSpPr/>
          <p:nvPr/>
        </p:nvSpPr>
        <p:spPr>
          <a:xfrm>
            <a:off x="6327648" y="1874520"/>
            <a:ext cx="274320" cy="274320"/>
          </a:xfrm>
          <a:prstGeom prst="ellipse">
            <a:avLst/>
          </a:prstGeom>
          <a:solidFill>
            <a:srgbClr val="B8860B"/>
          </a:solidFill>
          <a:ln/>
        </p:spPr>
        <p:txBody>
          <a:bodyPr/>
          <a:lstStyle/>
          <a:p>
            <a:endParaRPr lang="en-US"/>
          </a:p>
        </p:txBody>
      </p:sp>
      <p:sp>
        <p:nvSpPr>
          <p:cNvPr id="6" name="Text 4"/>
          <p:cNvSpPr/>
          <p:nvPr/>
        </p:nvSpPr>
        <p:spPr>
          <a:xfrm>
            <a:off x="731520" y="2377440"/>
            <a:ext cx="10725912" cy="1097280"/>
          </a:xfrm>
          <a:prstGeom prst="rect">
            <a:avLst/>
          </a:prstGeom>
          <a:noFill/>
          <a:ln/>
        </p:spPr>
        <p:txBody>
          <a:bodyPr wrap="square" lIns="0" tIns="0" rIns="0" bIns="0" rtlCol="0" anchor="ctr"/>
          <a:lstStyle/>
          <a:p>
            <a:pPr marL="0" indent="0" algn="ctr">
              <a:buNone/>
            </a:pPr>
            <a:r>
              <a:rPr lang="en-US" sz="4400" b="1" dirty="0">
                <a:solidFill>
                  <a:srgbClr val="1A1A1A"/>
                </a:solidFill>
                <a:latin typeface="Calibri" pitchFamily="34" charset="0"/>
                <a:ea typeface="Calibri" pitchFamily="34" charset="-122"/>
                <a:cs typeface="Calibri" pitchFamily="34" charset="-120"/>
              </a:rPr>
              <a:t>Real Estate Price Prediction</a:t>
            </a:r>
            <a:endParaRPr lang="en-US" sz="4400" dirty="0"/>
          </a:p>
        </p:txBody>
      </p:sp>
      <p:sp>
        <p:nvSpPr>
          <p:cNvPr id="7" name="Text 5"/>
          <p:cNvSpPr/>
          <p:nvPr/>
        </p:nvSpPr>
        <p:spPr>
          <a:xfrm>
            <a:off x="1463040" y="3520440"/>
            <a:ext cx="9262872" cy="548640"/>
          </a:xfrm>
          <a:prstGeom prst="rect">
            <a:avLst/>
          </a:prstGeom>
          <a:noFill/>
          <a:ln/>
        </p:spPr>
        <p:txBody>
          <a:bodyPr wrap="square" lIns="0" tIns="0" rIns="0" bIns="0" rtlCol="0" anchor="ctr"/>
          <a:lstStyle/>
          <a:p>
            <a:pPr marL="0" indent="0" algn="ctr">
              <a:buNone/>
            </a:pPr>
            <a:r>
              <a:rPr lang="en-US" sz="1800" i="1" dirty="0">
                <a:solidFill>
                  <a:srgbClr val="666666"/>
                </a:solidFill>
                <a:latin typeface="Calibri" pitchFamily="34" charset="0"/>
                <a:ea typeface="Calibri" pitchFamily="34" charset="-122"/>
                <a:cs typeface="Calibri" pitchFamily="34" charset="-120"/>
              </a:rPr>
              <a:t>Can predictive modeling outperform simple valuation heuristics for home prices?</a:t>
            </a:r>
            <a:endParaRPr lang="en-US" sz="1800" dirty="0"/>
          </a:p>
        </p:txBody>
      </p:sp>
      <p:sp>
        <p:nvSpPr>
          <p:cNvPr id="8" name="Text 6"/>
          <p:cNvSpPr/>
          <p:nvPr/>
        </p:nvSpPr>
        <p:spPr>
          <a:xfrm>
            <a:off x="1463040" y="4206240"/>
            <a:ext cx="9262872" cy="457200"/>
          </a:xfrm>
          <a:prstGeom prst="rect">
            <a:avLst/>
          </a:prstGeom>
          <a:noFill/>
          <a:ln/>
        </p:spPr>
        <p:txBody>
          <a:bodyPr wrap="square" lIns="0" tIns="0" rIns="0" bIns="0" rtlCol="0" anchor="ctr"/>
          <a:lstStyle/>
          <a:p>
            <a:pPr marL="0" indent="0" algn="ctr">
              <a:buNone/>
            </a:pPr>
            <a:r>
              <a:rPr lang="en-US" sz="1500" dirty="0">
                <a:solidFill>
                  <a:srgbClr val="1F6FA8"/>
                </a:solidFill>
                <a:latin typeface="Calibri" pitchFamily="34" charset="0"/>
                <a:ea typeface="Calibri" pitchFamily="34" charset="-122"/>
                <a:cs typeface="Calibri" pitchFamily="34" charset="-120"/>
              </a:rPr>
              <a:t>1,879 residential sales   ·   3 models compared   ·   Random Forest deployed</a:t>
            </a:r>
            <a:endParaRPr lang="en-US" sz="1500" dirty="0"/>
          </a:p>
        </p:txBody>
      </p:sp>
      <p:sp>
        <p:nvSpPr>
          <p:cNvPr id="9" name="Text 7"/>
          <p:cNvSpPr/>
          <p:nvPr/>
        </p:nvSpPr>
        <p:spPr>
          <a:xfrm>
            <a:off x="1463040" y="6035040"/>
            <a:ext cx="9262872" cy="365760"/>
          </a:xfrm>
          <a:prstGeom prst="rect">
            <a:avLst/>
          </a:prstGeom>
          <a:noFill/>
          <a:ln/>
        </p:spPr>
        <p:txBody>
          <a:bodyPr wrap="square" lIns="0" tIns="0" rIns="0" bIns="0" rtlCol="0" anchor="ctr"/>
          <a:lstStyle/>
          <a:p>
            <a:pPr marL="0" indent="0" algn="ctr">
              <a:buNone/>
            </a:pPr>
            <a:r>
              <a:rPr lang="en-US" sz="1200" dirty="0">
                <a:solidFill>
                  <a:srgbClr val="666666"/>
                </a:solidFill>
                <a:latin typeface="Calibri" pitchFamily="34" charset="0"/>
                <a:ea typeface="Calibri" pitchFamily="34" charset="-122"/>
                <a:cs typeface="Calibri" pitchFamily="34" charset="-120"/>
              </a:rPr>
              <a:t>Python · pandas · scikit-learn · matplotlib · Streamlit</a:t>
            </a:r>
            <a:endParaRPr lang="en-US" sz="1200" dirty="0"/>
          </a:p>
        </p:txBody>
      </p:sp>
      <p:sp>
        <p:nvSpPr>
          <p:cNvPr id="10" name="Text 7">
            <a:extLst>
              <a:ext uri="{FF2B5EF4-FFF2-40B4-BE49-F238E27FC236}">
                <a16:creationId xmlns:a16="http://schemas.microsoft.com/office/drawing/2014/main" id="{E0C872A1-E4E6-FCD9-A59D-9266E22B38DB}"/>
              </a:ext>
            </a:extLst>
          </p:cNvPr>
          <p:cNvSpPr/>
          <p:nvPr/>
        </p:nvSpPr>
        <p:spPr>
          <a:xfrm>
            <a:off x="1463040" y="4983480"/>
            <a:ext cx="9262872" cy="365760"/>
          </a:xfrm>
          <a:prstGeom prst="rect">
            <a:avLst/>
          </a:prstGeom>
          <a:noFill/>
          <a:ln/>
        </p:spPr>
        <p:txBody>
          <a:bodyPr wrap="square" lIns="0" tIns="0" rIns="0" bIns="0" rtlCol="0" anchor="ctr"/>
          <a:lstStyle/>
          <a:p>
            <a:pPr marL="0" indent="0" algn="ctr">
              <a:buNone/>
            </a:pPr>
            <a:r>
              <a:rPr lang="en-US" sz="1200" dirty="0">
                <a:solidFill>
                  <a:srgbClr val="666666"/>
                </a:solidFill>
                <a:latin typeface="Calibri" pitchFamily="34" charset="0"/>
                <a:ea typeface="Calibri" pitchFamily="34" charset="-122"/>
                <a:cs typeface="Calibri" pitchFamily="34" charset="-120"/>
              </a:rPr>
              <a:t>Donghwan Won | Dylan H. Won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515600" cy="731520"/>
          </a:xfrm>
          <a:prstGeom prst="rect">
            <a:avLst/>
          </a:prstGeom>
          <a:noFill/>
          <a:ln/>
        </p:spPr>
        <p:txBody>
          <a:bodyPr wrap="square" lIns="0" tIns="0" rIns="0" bIns="0"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Summary</a:t>
            </a:r>
            <a:endParaRPr lang="en-US" sz="3200" dirty="0"/>
          </a:p>
        </p:txBody>
      </p:sp>
      <p:sp>
        <p:nvSpPr>
          <p:cNvPr id="3" name="Shape 1"/>
          <p:cNvSpPr/>
          <p:nvPr/>
        </p:nvSpPr>
        <p:spPr>
          <a:xfrm>
            <a:off x="11292840" y="502920"/>
            <a:ext cx="128016" cy="128016"/>
          </a:xfrm>
          <a:prstGeom prst="ellipse">
            <a:avLst/>
          </a:prstGeom>
          <a:solidFill>
            <a:srgbClr val="1F6FA8"/>
          </a:solidFill>
          <a:ln/>
        </p:spPr>
        <p:txBody>
          <a:bodyPr/>
          <a:lstStyle/>
          <a:p>
            <a:endParaRPr lang="en-US"/>
          </a:p>
        </p:txBody>
      </p:sp>
      <p:sp>
        <p:nvSpPr>
          <p:cNvPr id="4" name="Shape 2"/>
          <p:cNvSpPr/>
          <p:nvPr/>
        </p:nvSpPr>
        <p:spPr>
          <a:xfrm>
            <a:off x="11512296" y="502920"/>
            <a:ext cx="128016" cy="128016"/>
          </a:xfrm>
          <a:prstGeom prst="ellipse">
            <a:avLst/>
          </a:prstGeom>
          <a:solidFill>
            <a:srgbClr val="7C4DA8"/>
          </a:solidFill>
          <a:ln/>
        </p:spPr>
        <p:txBody>
          <a:bodyPr/>
          <a:lstStyle/>
          <a:p>
            <a:endParaRPr lang="en-US"/>
          </a:p>
        </p:txBody>
      </p:sp>
      <p:sp>
        <p:nvSpPr>
          <p:cNvPr id="5" name="Shape 3"/>
          <p:cNvSpPr/>
          <p:nvPr/>
        </p:nvSpPr>
        <p:spPr>
          <a:xfrm>
            <a:off x="11731752" y="502920"/>
            <a:ext cx="128016" cy="128016"/>
          </a:xfrm>
          <a:prstGeom prst="ellipse">
            <a:avLst/>
          </a:prstGeom>
          <a:solidFill>
            <a:srgbClr val="2E8B57"/>
          </a:solidFill>
          <a:ln/>
        </p:spPr>
        <p:txBody>
          <a:bodyPr/>
          <a:lstStyle/>
          <a:p>
            <a:endParaRPr lang="en-US"/>
          </a:p>
        </p:txBody>
      </p:sp>
      <p:sp>
        <p:nvSpPr>
          <p:cNvPr id="6" name="Shape 4"/>
          <p:cNvSpPr/>
          <p:nvPr/>
        </p:nvSpPr>
        <p:spPr>
          <a:xfrm>
            <a:off x="11951208" y="502920"/>
            <a:ext cx="128016" cy="128016"/>
          </a:xfrm>
          <a:prstGeom prst="ellipse">
            <a:avLst/>
          </a:prstGeom>
          <a:solidFill>
            <a:srgbClr val="B8860B"/>
          </a:solidFill>
          <a:ln/>
        </p:spPr>
        <p:txBody>
          <a:bodyPr/>
          <a:lstStyle/>
          <a:p>
            <a:endParaRPr lang="en-US"/>
          </a:p>
        </p:txBody>
      </p:sp>
      <p:sp>
        <p:nvSpPr>
          <p:cNvPr id="7" name="Shape 5"/>
          <p:cNvSpPr/>
          <p:nvPr/>
        </p:nvSpPr>
        <p:spPr>
          <a:xfrm>
            <a:off x="548640" y="1371600"/>
            <a:ext cx="5440680" cy="2331720"/>
          </a:xfrm>
          <a:prstGeom prst="roundRect">
            <a:avLst>
              <a:gd name="adj" fmla="val 3137"/>
            </a:avLst>
          </a:prstGeom>
          <a:solidFill>
            <a:srgbClr val="EAF4FB"/>
          </a:solidFill>
          <a:ln w="19050">
            <a:solidFill>
              <a:srgbClr val="8EC9F0"/>
            </a:solidFill>
            <a:prstDash val="solid"/>
          </a:ln>
        </p:spPr>
        <p:txBody>
          <a:bodyPr/>
          <a:lstStyle/>
          <a:p>
            <a:endParaRPr lang="en-US"/>
          </a:p>
        </p:txBody>
      </p:sp>
      <p:sp>
        <p:nvSpPr>
          <p:cNvPr id="8" name="Text 6"/>
          <p:cNvSpPr/>
          <p:nvPr/>
        </p:nvSpPr>
        <p:spPr>
          <a:xfrm>
            <a:off x="777240" y="1536192"/>
            <a:ext cx="548640" cy="502920"/>
          </a:xfrm>
          <a:prstGeom prst="rect">
            <a:avLst/>
          </a:prstGeom>
          <a:noFill/>
          <a:ln/>
        </p:spPr>
        <p:txBody>
          <a:bodyPr wrap="square" lIns="0" tIns="0" rIns="0" bIns="0" rtlCol="0" anchor="ctr"/>
          <a:lstStyle/>
          <a:p>
            <a:pPr marL="0" indent="0">
              <a:buNone/>
            </a:pPr>
            <a:r>
              <a:rPr lang="en-US" sz="2600" b="1" dirty="0">
                <a:solidFill>
                  <a:srgbClr val="1F6FA8"/>
                </a:solidFill>
                <a:latin typeface="Calibri" pitchFamily="34" charset="0"/>
                <a:ea typeface="Calibri" pitchFamily="34" charset="-122"/>
                <a:cs typeface="Calibri" pitchFamily="34" charset="-120"/>
              </a:rPr>
              <a:t>1</a:t>
            </a:r>
            <a:endParaRPr lang="en-US" sz="2600" dirty="0"/>
          </a:p>
        </p:txBody>
      </p:sp>
      <p:sp>
        <p:nvSpPr>
          <p:cNvPr id="9" name="Text 7"/>
          <p:cNvSpPr/>
          <p:nvPr/>
        </p:nvSpPr>
        <p:spPr>
          <a:xfrm>
            <a:off x="1325880" y="1591056"/>
            <a:ext cx="4434840" cy="457200"/>
          </a:xfrm>
          <a:prstGeom prst="rect">
            <a:avLst/>
          </a:prstGeom>
          <a:noFill/>
          <a:ln/>
        </p:spPr>
        <p:txBody>
          <a:bodyPr wrap="square" lIns="0" tIns="0" rIns="0" bIns="0" rtlCol="0" anchor="ctr"/>
          <a:lstStyle/>
          <a:p>
            <a:pPr marL="0" indent="0">
              <a:buNone/>
            </a:pPr>
            <a:r>
              <a:rPr lang="en-US" sz="1900" b="1" dirty="0">
                <a:solidFill>
                  <a:srgbClr val="1A1A1A"/>
                </a:solidFill>
                <a:latin typeface="Calibri" pitchFamily="34" charset="0"/>
                <a:ea typeface="Calibri" pitchFamily="34" charset="-122"/>
                <a:cs typeface="Calibri" pitchFamily="34" charset="-120"/>
              </a:rPr>
              <a:t>Business needs</a:t>
            </a:r>
            <a:endParaRPr lang="en-US" sz="1900" dirty="0"/>
          </a:p>
        </p:txBody>
      </p:sp>
      <p:sp>
        <p:nvSpPr>
          <p:cNvPr id="10" name="Text 8"/>
          <p:cNvSpPr/>
          <p:nvPr/>
        </p:nvSpPr>
        <p:spPr>
          <a:xfrm>
            <a:off x="868680" y="2121408"/>
            <a:ext cx="480060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Can predictive modeling outperform simple valuation heuristics for home prices?</a:t>
            </a:r>
            <a:endParaRPr lang="en-US" sz="1400" dirty="0"/>
          </a:p>
        </p:txBody>
      </p:sp>
      <p:sp>
        <p:nvSpPr>
          <p:cNvPr id="11" name="Shape 9"/>
          <p:cNvSpPr/>
          <p:nvPr/>
        </p:nvSpPr>
        <p:spPr>
          <a:xfrm>
            <a:off x="6309360" y="1371600"/>
            <a:ext cx="5440680" cy="2331720"/>
          </a:xfrm>
          <a:prstGeom prst="roundRect">
            <a:avLst>
              <a:gd name="adj" fmla="val 3137"/>
            </a:avLst>
          </a:prstGeom>
          <a:solidFill>
            <a:srgbClr val="F4EDFA"/>
          </a:solidFill>
          <a:ln w="19050">
            <a:solidFill>
              <a:srgbClr val="C9A6E8"/>
            </a:solidFill>
            <a:prstDash val="solid"/>
          </a:ln>
        </p:spPr>
        <p:txBody>
          <a:bodyPr/>
          <a:lstStyle/>
          <a:p>
            <a:endParaRPr lang="en-US"/>
          </a:p>
        </p:txBody>
      </p:sp>
      <p:sp>
        <p:nvSpPr>
          <p:cNvPr id="12" name="Text 10"/>
          <p:cNvSpPr/>
          <p:nvPr/>
        </p:nvSpPr>
        <p:spPr>
          <a:xfrm>
            <a:off x="6537960" y="1536192"/>
            <a:ext cx="548640" cy="502920"/>
          </a:xfrm>
          <a:prstGeom prst="rect">
            <a:avLst/>
          </a:prstGeom>
          <a:noFill/>
          <a:ln/>
        </p:spPr>
        <p:txBody>
          <a:bodyPr wrap="square" lIns="0" tIns="0" rIns="0" bIns="0" rtlCol="0" anchor="ctr"/>
          <a:lstStyle/>
          <a:p>
            <a:pPr marL="0" indent="0">
              <a:buNone/>
            </a:pPr>
            <a:r>
              <a:rPr lang="en-US" sz="2600" b="1" dirty="0">
                <a:solidFill>
                  <a:srgbClr val="7C4DA8"/>
                </a:solidFill>
                <a:latin typeface="Calibri" pitchFamily="34" charset="0"/>
                <a:ea typeface="Calibri" pitchFamily="34" charset="-122"/>
                <a:cs typeface="Calibri" pitchFamily="34" charset="-120"/>
              </a:rPr>
              <a:t>2</a:t>
            </a:r>
            <a:endParaRPr lang="en-US" sz="2600" dirty="0"/>
          </a:p>
        </p:txBody>
      </p:sp>
      <p:sp>
        <p:nvSpPr>
          <p:cNvPr id="13" name="Text 11"/>
          <p:cNvSpPr/>
          <p:nvPr/>
        </p:nvSpPr>
        <p:spPr>
          <a:xfrm>
            <a:off x="7086600" y="1591056"/>
            <a:ext cx="4434840" cy="457200"/>
          </a:xfrm>
          <a:prstGeom prst="rect">
            <a:avLst/>
          </a:prstGeom>
          <a:noFill/>
          <a:ln/>
        </p:spPr>
        <p:txBody>
          <a:bodyPr wrap="square" lIns="0" tIns="0" rIns="0" bIns="0" rtlCol="0" anchor="ctr"/>
          <a:lstStyle/>
          <a:p>
            <a:pPr marL="0" indent="0">
              <a:buNone/>
            </a:pPr>
            <a:r>
              <a:rPr lang="en-US" sz="1900" b="1" dirty="0">
                <a:solidFill>
                  <a:srgbClr val="1A1A1A"/>
                </a:solidFill>
                <a:latin typeface="Calibri" pitchFamily="34" charset="0"/>
                <a:ea typeface="Calibri" pitchFamily="34" charset="-122"/>
                <a:cs typeface="Calibri" pitchFamily="34" charset="-120"/>
              </a:rPr>
              <a:t>Data engineering</a:t>
            </a:r>
            <a:endParaRPr lang="en-US" sz="1900" dirty="0"/>
          </a:p>
        </p:txBody>
      </p:sp>
      <p:sp>
        <p:nvSpPr>
          <p:cNvPr id="14" name="Text 12"/>
          <p:cNvSpPr/>
          <p:nvPr/>
        </p:nvSpPr>
        <p:spPr>
          <a:xfrm>
            <a:off x="6629400" y="2121408"/>
            <a:ext cx="480060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1,879 residential sales, 11 fields; no missing values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property_type one-hot encoded → 11 model features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80/20 stratified train/test split (random_state = 42)</a:t>
            </a:r>
            <a:endParaRPr lang="en-US" sz="1400" dirty="0"/>
          </a:p>
        </p:txBody>
      </p:sp>
      <p:sp>
        <p:nvSpPr>
          <p:cNvPr id="15" name="Shape 13"/>
          <p:cNvSpPr/>
          <p:nvPr/>
        </p:nvSpPr>
        <p:spPr>
          <a:xfrm>
            <a:off x="548640" y="4023360"/>
            <a:ext cx="5440680" cy="2331720"/>
          </a:xfrm>
          <a:prstGeom prst="roundRect">
            <a:avLst>
              <a:gd name="adj" fmla="val 3137"/>
            </a:avLst>
          </a:prstGeom>
          <a:solidFill>
            <a:srgbClr val="EBF7EA"/>
          </a:solidFill>
          <a:ln w="19050">
            <a:solidFill>
              <a:srgbClr val="A8E6A3"/>
            </a:solidFill>
            <a:prstDash val="solid"/>
          </a:ln>
        </p:spPr>
        <p:txBody>
          <a:bodyPr/>
          <a:lstStyle/>
          <a:p>
            <a:endParaRPr lang="en-US"/>
          </a:p>
        </p:txBody>
      </p:sp>
      <p:sp>
        <p:nvSpPr>
          <p:cNvPr id="16" name="Text 14"/>
          <p:cNvSpPr/>
          <p:nvPr/>
        </p:nvSpPr>
        <p:spPr>
          <a:xfrm>
            <a:off x="777240" y="4187952"/>
            <a:ext cx="548640" cy="502920"/>
          </a:xfrm>
          <a:prstGeom prst="rect">
            <a:avLst/>
          </a:prstGeom>
          <a:noFill/>
          <a:ln/>
        </p:spPr>
        <p:txBody>
          <a:bodyPr wrap="square" lIns="0" tIns="0" rIns="0" bIns="0" rtlCol="0" anchor="ctr"/>
          <a:lstStyle/>
          <a:p>
            <a:pPr marL="0" indent="0">
              <a:buNone/>
            </a:pPr>
            <a:r>
              <a:rPr lang="en-US" sz="2600" b="1" dirty="0">
                <a:solidFill>
                  <a:srgbClr val="2E8B57"/>
                </a:solidFill>
                <a:latin typeface="Calibri" pitchFamily="34" charset="0"/>
                <a:ea typeface="Calibri" pitchFamily="34" charset="-122"/>
                <a:cs typeface="Calibri" pitchFamily="34" charset="-120"/>
              </a:rPr>
              <a:t>3</a:t>
            </a:r>
            <a:endParaRPr lang="en-US" sz="2600" dirty="0"/>
          </a:p>
        </p:txBody>
      </p:sp>
      <p:sp>
        <p:nvSpPr>
          <p:cNvPr id="17" name="Text 15"/>
          <p:cNvSpPr/>
          <p:nvPr/>
        </p:nvSpPr>
        <p:spPr>
          <a:xfrm>
            <a:off x="1325880" y="4242816"/>
            <a:ext cx="4434840" cy="457200"/>
          </a:xfrm>
          <a:prstGeom prst="rect">
            <a:avLst/>
          </a:prstGeom>
          <a:noFill/>
          <a:ln/>
        </p:spPr>
        <p:txBody>
          <a:bodyPr wrap="square" lIns="0" tIns="0" rIns="0" bIns="0" rtlCol="0" anchor="ctr"/>
          <a:lstStyle/>
          <a:p>
            <a:pPr marL="0" indent="0">
              <a:buNone/>
            </a:pPr>
            <a:r>
              <a:rPr lang="en-US" sz="1900" b="1" dirty="0">
                <a:solidFill>
                  <a:srgbClr val="1A1A1A"/>
                </a:solidFill>
                <a:latin typeface="Calibri" pitchFamily="34" charset="0"/>
                <a:ea typeface="Calibri" pitchFamily="34" charset="-122"/>
                <a:cs typeface="Calibri" pitchFamily="34" charset="-120"/>
              </a:rPr>
              <a:t>Machine learning model</a:t>
            </a:r>
            <a:endParaRPr lang="en-US" sz="1900" dirty="0"/>
          </a:p>
        </p:txBody>
      </p:sp>
      <p:sp>
        <p:nvSpPr>
          <p:cNvPr id="18" name="Text 16"/>
          <p:cNvSpPr/>
          <p:nvPr/>
        </p:nvSpPr>
        <p:spPr>
          <a:xfrm>
            <a:off x="868680" y="4773168"/>
            <a:ext cx="480060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Compared 3 kinds of regression models: Linear Regression, Random Forest, Gradient Boosting</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Random Forest is the best one on test: MAE $43,795 · R² 0.834</a:t>
            </a:r>
            <a:endParaRPr lang="en-US" sz="1400" dirty="0"/>
          </a:p>
        </p:txBody>
      </p:sp>
      <p:sp>
        <p:nvSpPr>
          <p:cNvPr id="19" name="Shape 17"/>
          <p:cNvSpPr/>
          <p:nvPr/>
        </p:nvSpPr>
        <p:spPr>
          <a:xfrm>
            <a:off x="6309360" y="4023360"/>
            <a:ext cx="5440680" cy="2331720"/>
          </a:xfrm>
          <a:prstGeom prst="roundRect">
            <a:avLst>
              <a:gd name="adj" fmla="val 3137"/>
            </a:avLst>
          </a:prstGeom>
          <a:solidFill>
            <a:srgbClr val="FDF8E2"/>
          </a:solidFill>
          <a:ln w="19050">
            <a:solidFill>
              <a:srgbClr val="FFF09E"/>
            </a:solidFill>
            <a:prstDash val="solid"/>
          </a:ln>
        </p:spPr>
        <p:txBody>
          <a:bodyPr/>
          <a:lstStyle/>
          <a:p>
            <a:endParaRPr lang="en-US"/>
          </a:p>
        </p:txBody>
      </p:sp>
      <p:sp>
        <p:nvSpPr>
          <p:cNvPr id="20" name="Text 18"/>
          <p:cNvSpPr/>
          <p:nvPr/>
        </p:nvSpPr>
        <p:spPr>
          <a:xfrm>
            <a:off x="6537960" y="4187952"/>
            <a:ext cx="548640" cy="502920"/>
          </a:xfrm>
          <a:prstGeom prst="rect">
            <a:avLst/>
          </a:prstGeom>
          <a:noFill/>
          <a:ln/>
        </p:spPr>
        <p:txBody>
          <a:bodyPr wrap="square" lIns="0" tIns="0" rIns="0" bIns="0" rtlCol="0" anchor="ctr"/>
          <a:lstStyle/>
          <a:p>
            <a:pPr marL="0" indent="0">
              <a:buNone/>
            </a:pPr>
            <a:r>
              <a:rPr lang="en-US" sz="2600" b="1" dirty="0">
                <a:solidFill>
                  <a:srgbClr val="B8860B"/>
                </a:solidFill>
                <a:latin typeface="Calibri" pitchFamily="34" charset="0"/>
                <a:ea typeface="Calibri" pitchFamily="34" charset="-122"/>
                <a:cs typeface="Calibri" pitchFamily="34" charset="-120"/>
              </a:rPr>
              <a:t>4</a:t>
            </a:r>
            <a:endParaRPr lang="en-US" sz="2600" dirty="0"/>
          </a:p>
        </p:txBody>
      </p:sp>
      <p:sp>
        <p:nvSpPr>
          <p:cNvPr id="21" name="Text 19"/>
          <p:cNvSpPr/>
          <p:nvPr/>
        </p:nvSpPr>
        <p:spPr>
          <a:xfrm>
            <a:off x="7086600" y="4242816"/>
            <a:ext cx="4434840" cy="457200"/>
          </a:xfrm>
          <a:prstGeom prst="rect">
            <a:avLst/>
          </a:prstGeom>
          <a:noFill/>
          <a:ln/>
        </p:spPr>
        <p:txBody>
          <a:bodyPr wrap="square" lIns="0" tIns="0" rIns="0" bIns="0" rtlCol="0" anchor="ctr"/>
          <a:lstStyle/>
          <a:p>
            <a:pPr marL="0" indent="0">
              <a:buNone/>
            </a:pPr>
            <a:r>
              <a:rPr lang="en-US" sz="1900" b="1" dirty="0">
                <a:solidFill>
                  <a:srgbClr val="1A1A1A"/>
                </a:solidFill>
                <a:latin typeface="Calibri" pitchFamily="34" charset="0"/>
                <a:ea typeface="Calibri" pitchFamily="34" charset="-122"/>
                <a:cs typeface="Calibri" pitchFamily="34" charset="-120"/>
              </a:rPr>
              <a:t>BI intelligence</a:t>
            </a:r>
            <a:endParaRPr lang="en-US" sz="1900" dirty="0"/>
          </a:p>
        </p:txBody>
      </p:sp>
      <p:sp>
        <p:nvSpPr>
          <p:cNvPr id="22" name="Text 20"/>
          <p:cNvSpPr/>
          <p:nvPr/>
        </p:nvSpPr>
        <p:spPr>
          <a:xfrm>
            <a:off x="6629400" y="4773168"/>
            <a:ext cx="480060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Deploy Random Forest for valuation support; flag large model-vs-actual gaps</a:t>
            </a:r>
          </a:p>
          <a:p>
            <a:pPr marL="342900" indent="-342900">
              <a:spcAft>
                <a:spcPts val="600"/>
              </a:spcAft>
              <a:buSzPct val="100000"/>
              <a:buFontTx/>
              <a:buChar char="•"/>
            </a:pPr>
            <a:r>
              <a:rPr lang="en-CA" sz="1400" dirty="0"/>
              <a:t>Regardless of bungalow or condo type, insurance, year sold, and property tax are the top drivers, indicating that carrying costs and market timing dominate.</a:t>
            </a:r>
          </a:p>
          <a:p>
            <a:pPr>
              <a:spcAft>
                <a:spcPts val="600"/>
              </a:spcAft>
              <a:buSzPct val="100000"/>
            </a:pPr>
            <a:endParaRPr lang="en-US" sz="1400" dirty="0">
              <a:solidFill>
                <a:srgbClr val="1A1A1A"/>
              </a:solidFill>
              <a:latin typeface="Calibri" pitchFamily="34" charset="0"/>
              <a:ea typeface="Calibri" pitchFamily="34" charset="-122"/>
              <a:cs typeface="Calibri" pitchFamily="34" charset="-120"/>
            </a:endParaRPr>
          </a:p>
          <a:p>
            <a:pPr marL="342900" indent="-342900">
              <a:spcAft>
                <a:spcPts val="600"/>
              </a:spcAft>
              <a:buSzPct val="100000"/>
              <a:buChar char="•"/>
            </a:pP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515600" cy="731520"/>
          </a:xfrm>
          <a:prstGeom prst="rect">
            <a:avLst/>
          </a:prstGeom>
          <a:noFill/>
          <a:ln/>
        </p:spPr>
        <p:txBody>
          <a:bodyPr wrap="square" lIns="0" tIns="0" rIns="0" bIns="0"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Business needs</a:t>
            </a:r>
            <a:endParaRPr lang="en-US" sz="3200" dirty="0"/>
          </a:p>
        </p:txBody>
      </p:sp>
      <p:sp>
        <p:nvSpPr>
          <p:cNvPr id="3" name="Shape 1"/>
          <p:cNvSpPr/>
          <p:nvPr/>
        </p:nvSpPr>
        <p:spPr>
          <a:xfrm>
            <a:off x="11292840" y="502920"/>
            <a:ext cx="128016" cy="128016"/>
          </a:xfrm>
          <a:prstGeom prst="ellipse">
            <a:avLst/>
          </a:prstGeom>
          <a:solidFill>
            <a:srgbClr val="1F6FA8"/>
          </a:solidFill>
          <a:ln/>
        </p:spPr>
        <p:txBody>
          <a:bodyPr/>
          <a:lstStyle/>
          <a:p>
            <a:endParaRPr lang="en-US"/>
          </a:p>
        </p:txBody>
      </p:sp>
      <p:sp>
        <p:nvSpPr>
          <p:cNvPr id="4" name="Shape 2"/>
          <p:cNvSpPr/>
          <p:nvPr/>
        </p:nvSpPr>
        <p:spPr>
          <a:xfrm>
            <a:off x="11512296" y="502920"/>
            <a:ext cx="128016" cy="128016"/>
          </a:xfrm>
          <a:prstGeom prst="ellipse">
            <a:avLst/>
          </a:prstGeom>
          <a:solidFill>
            <a:srgbClr val="7C4DA8"/>
          </a:solidFill>
          <a:ln/>
        </p:spPr>
        <p:txBody>
          <a:bodyPr/>
          <a:lstStyle/>
          <a:p>
            <a:endParaRPr lang="en-US"/>
          </a:p>
        </p:txBody>
      </p:sp>
      <p:sp>
        <p:nvSpPr>
          <p:cNvPr id="5" name="Shape 3"/>
          <p:cNvSpPr/>
          <p:nvPr/>
        </p:nvSpPr>
        <p:spPr>
          <a:xfrm>
            <a:off x="11731752" y="502920"/>
            <a:ext cx="128016" cy="128016"/>
          </a:xfrm>
          <a:prstGeom prst="ellipse">
            <a:avLst/>
          </a:prstGeom>
          <a:solidFill>
            <a:srgbClr val="2E8B57"/>
          </a:solidFill>
          <a:ln/>
        </p:spPr>
        <p:txBody>
          <a:bodyPr/>
          <a:lstStyle/>
          <a:p>
            <a:endParaRPr lang="en-US"/>
          </a:p>
        </p:txBody>
      </p:sp>
      <p:sp>
        <p:nvSpPr>
          <p:cNvPr id="6" name="Shape 4"/>
          <p:cNvSpPr/>
          <p:nvPr/>
        </p:nvSpPr>
        <p:spPr>
          <a:xfrm>
            <a:off x="11951208" y="502920"/>
            <a:ext cx="128016" cy="128016"/>
          </a:xfrm>
          <a:prstGeom prst="ellipse">
            <a:avLst/>
          </a:prstGeom>
          <a:solidFill>
            <a:srgbClr val="B8860B"/>
          </a:solidFill>
          <a:ln/>
        </p:spPr>
        <p:txBody>
          <a:bodyPr/>
          <a:lstStyle/>
          <a:p>
            <a:endParaRPr lang="en-US"/>
          </a:p>
        </p:txBody>
      </p:sp>
      <p:sp>
        <p:nvSpPr>
          <p:cNvPr id="7" name="Shape 5"/>
          <p:cNvSpPr/>
          <p:nvPr/>
        </p:nvSpPr>
        <p:spPr>
          <a:xfrm>
            <a:off x="548640" y="1325880"/>
            <a:ext cx="11091672" cy="1143000"/>
          </a:xfrm>
          <a:prstGeom prst="roundRect">
            <a:avLst>
              <a:gd name="adj" fmla="val 6400"/>
            </a:avLst>
          </a:prstGeom>
          <a:solidFill>
            <a:srgbClr val="EAF4FB"/>
          </a:solidFill>
          <a:ln w="19050">
            <a:solidFill>
              <a:srgbClr val="8EC9F0"/>
            </a:solidFill>
            <a:prstDash val="solid"/>
          </a:ln>
        </p:spPr>
        <p:txBody>
          <a:bodyPr/>
          <a:lstStyle/>
          <a:p>
            <a:endParaRPr lang="en-US"/>
          </a:p>
        </p:txBody>
      </p:sp>
      <p:sp>
        <p:nvSpPr>
          <p:cNvPr id="8" name="Text 6"/>
          <p:cNvSpPr/>
          <p:nvPr/>
        </p:nvSpPr>
        <p:spPr>
          <a:xfrm>
            <a:off x="868680" y="1325880"/>
            <a:ext cx="10424160" cy="1143000"/>
          </a:xfrm>
          <a:prstGeom prst="rect">
            <a:avLst/>
          </a:prstGeom>
          <a:noFill/>
          <a:ln/>
        </p:spPr>
        <p:txBody>
          <a:bodyPr wrap="square" lIns="0" tIns="0" rIns="0" bIns="0" rtlCol="0" anchor="ctr"/>
          <a:lstStyle/>
          <a:p>
            <a:pPr marL="0" indent="0">
              <a:buNone/>
            </a:pPr>
            <a:r>
              <a:rPr lang="en-US" sz="2100" b="1" dirty="0">
                <a:solidFill>
                  <a:srgbClr val="1F6FA8"/>
                </a:solidFill>
                <a:latin typeface="Calibri" pitchFamily="34" charset="0"/>
                <a:ea typeface="Calibri" pitchFamily="34" charset="-122"/>
                <a:cs typeface="Calibri" pitchFamily="34" charset="-120"/>
              </a:rPr>
              <a:t>Can predictive modeling outperform simple valuation heuristics for home prices?</a:t>
            </a:r>
            <a:endParaRPr lang="en-US" sz="2100" dirty="0"/>
          </a:p>
        </p:txBody>
      </p:sp>
      <p:sp>
        <p:nvSpPr>
          <p:cNvPr id="9" name="Text 7"/>
          <p:cNvSpPr/>
          <p:nvPr/>
        </p:nvSpPr>
        <p:spPr>
          <a:xfrm>
            <a:off x="548640" y="2834640"/>
            <a:ext cx="5669280" cy="3291840"/>
          </a:xfrm>
          <a:prstGeom prst="rect">
            <a:avLst/>
          </a:prstGeom>
          <a:noFill/>
          <a:ln/>
        </p:spPr>
        <p:txBody>
          <a:bodyPr wrap="square" lIns="0" tIns="0" rIns="0" bIns="0" rtlCol="0" anchor="t"/>
          <a:lstStyle/>
          <a:p>
            <a:pPr marL="0" indent="0">
              <a:spcAft>
                <a:spcPts val="800"/>
              </a:spcAft>
              <a:buNone/>
            </a:pPr>
            <a:r>
              <a:rPr lang="en-US" sz="1700" b="1" dirty="0">
                <a:solidFill>
                  <a:srgbClr val="1A1A1A"/>
                </a:solidFill>
                <a:latin typeface="Calibri" pitchFamily="34" charset="0"/>
                <a:ea typeface="Calibri" pitchFamily="34" charset="-122"/>
                <a:cs typeface="Calibri" pitchFamily="34" charset="-120"/>
              </a:rPr>
              <a:t>Why it matters</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Agents typically price with rules of thumb: average $/sqft, or the average sale price of the property type.</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Heuristics ignore quality, timing, and carrying costs — leading to systematic over/under-pricing.</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A model with lower average error creates a defensible pricing guideline and flags outlier listings.</a:t>
            </a:r>
            <a:endParaRPr lang="en-US" sz="1500" dirty="0"/>
          </a:p>
        </p:txBody>
      </p:sp>
      <p:sp>
        <p:nvSpPr>
          <p:cNvPr id="10" name="Text 8"/>
          <p:cNvSpPr/>
          <p:nvPr/>
        </p:nvSpPr>
        <p:spPr>
          <a:xfrm>
            <a:off x="6766560" y="2743200"/>
            <a:ext cx="2103120" cy="822960"/>
          </a:xfrm>
          <a:prstGeom prst="rect">
            <a:avLst/>
          </a:prstGeom>
          <a:noFill/>
          <a:ln/>
        </p:spPr>
        <p:txBody>
          <a:bodyPr wrap="square" lIns="0" tIns="0" rIns="0" bIns="0" rtlCol="0" anchor="ctr"/>
          <a:lstStyle/>
          <a:p>
            <a:pPr marL="0" indent="0" algn="r">
              <a:buNone/>
            </a:pPr>
            <a:r>
              <a:rPr lang="en-US" sz="4000" b="1" dirty="0">
                <a:solidFill>
                  <a:srgbClr val="1F6FA8"/>
                </a:solidFill>
                <a:latin typeface="Calibri" pitchFamily="34" charset="0"/>
                <a:ea typeface="Calibri" pitchFamily="34" charset="-122"/>
                <a:cs typeface="Calibri" pitchFamily="34" charset="-120"/>
              </a:rPr>
              <a:t>1,879</a:t>
            </a:r>
            <a:endParaRPr lang="en-US" sz="4000" dirty="0"/>
          </a:p>
        </p:txBody>
      </p:sp>
      <p:sp>
        <p:nvSpPr>
          <p:cNvPr id="11" name="Text 9"/>
          <p:cNvSpPr/>
          <p:nvPr/>
        </p:nvSpPr>
        <p:spPr>
          <a:xfrm>
            <a:off x="9006840" y="2907792"/>
            <a:ext cx="2743200" cy="731520"/>
          </a:xfrm>
          <a:prstGeom prst="rect">
            <a:avLst/>
          </a:prstGeom>
          <a:noFill/>
          <a:ln/>
        </p:spPr>
        <p:txBody>
          <a:bodyPr wrap="square" lIns="0" tIns="0" rIns="0" bIns="0" rtlCol="0" anchor="t"/>
          <a:lstStyle/>
          <a:p>
            <a:pPr marL="0" indent="0">
              <a:buNone/>
            </a:pPr>
            <a:r>
              <a:rPr lang="en-US" sz="1300" dirty="0">
                <a:solidFill>
                  <a:srgbClr val="666666"/>
                </a:solidFill>
                <a:latin typeface="Calibri" pitchFamily="34" charset="0"/>
                <a:ea typeface="Calibri" pitchFamily="34" charset="-122"/>
                <a:cs typeface="Calibri" pitchFamily="34" charset="-120"/>
              </a:rPr>
              <a:t>residential sales (Condo / Bungalow)</a:t>
            </a:r>
            <a:endParaRPr lang="en-US" sz="1300" dirty="0"/>
          </a:p>
        </p:txBody>
      </p:sp>
      <p:sp>
        <p:nvSpPr>
          <p:cNvPr id="12" name="Text 10"/>
          <p:cNvSpPr/>
          <p:nvPr/>
        </p:nvSpPr>
        <p:spPr>
          <a:xfrm>
            <a:off x="6766560" y="3886200"/>
            <a:ext cx="2103120" cy="822960"/>
          </a:xfrm>
          <a:prstGeom prst="rect">
            <a:avLst/>
          </a:prstGeom>
          <a:noFill/>
          <a:ln/>
        </p:spPr>
        <p:txBody>
          <a:bodyPr wrap="square" lIns="0" tIns="0" rIns="0" bIns="0" rtlCol="0" anchor="ctr"/>
          <a:lstStyle/>
          <a:p>
            <a:pPr marL="0" indent="0" algn="r">
              <a:buNone/>
            </a:pPr>
            <a:r>
              <a:rPr lang="en-US" sz="4000" b="1" dirty="0">
                <a:solidFill>
                  <a:srgbClr val="1F6FA8"/>
                </a:solidFill>
                <a:latin typeface="Calibri" pitchFamily="34" charset="0"/>
                <a:ea typeface="Calibri" pitchFamily="34" charset="-122"/>
                <a:cs typeface="Calibri" pitchFamily="34" charset="-120"/>
              </a:rPr>
              <a:t>$423K</a:t>
            </a:r>
            <a:endParaRPr lang="en-US" sz="4000" dirty="0"/>
          </a:p>
        </p:txBody>
      </p:sp>
      <p:sp>
        <p:nvSpPr>
          <p:cNvPr id="13" name="Text 11"/>
          <p:cNvSpPr/>
          <p:nvPr/>
        </p:nvSpPr>
        <p:spPr>
          <a:xfrm>
            <a:off x="9006840" y="4050792"/>
            <a:ext cx="2743200" cy="731520"/>
          </a:xfrm>
          <a:prstGeom prst="rect">
            <a:avLst/>
          </a:prstGeom>
          <a:noFill/>
          <a:ln/>
        </p:spPr>
        <p:txBody>
          <a:bodyPr wrap="square" lIns="0" tIns="0" rIns="0" bIns="0" rtlCol="0" anchor="t"/>
          <a:lstStyle/>
          <a:p>
            <a:pPr marL="0" indent="0">
              <a:buNone/>
            </a:pPr>
            <a:r>
              <a:rPr lang="en-US" sz="1300" dirty="0">
                <a:solidFill>
                  <a:srgbClr val="666666"/>
                </a:solidFill>
                <a:latin typeface="Calibri" pitchFamily="34" charset="0"/>
                <a:ea typeface="Calibri" pitchFamily="34" charset="-122"/>
                <a:cs typeface="Calibri" pitchFamily="34" charset="-120"/>
              </a:rPr>
              <a:t>mean sale price  ·  range $200K–$800K</a:t>
            </a:r>
            <a:endParaRPr lang="en-US" sz="1300" dirty="0"/>
          </a:p>
        </p:txBody>
      </p:sp>
      <p:sp>
        <p:nvSpPr>
          <p:cNvPr id="14" name="Text 12"/>
          <p:cNvSpPr/>
          <p:nvPr/>
        </p:nvSpPr>
        <p:spPr>
          <a:xfrm>
            <a:off x="6766560" y="5029200"/>
            <a:ext cx="2103120" cy="822960"/>
          </a:xfrm>
          <a:prstGeom prst="rect">
            <a:avLst/>
          </a:prstGeom>
          <a:noFill/>
          <a:ln/>
        </p:spPr>
        <p:txBody>
          <a:bodyPr wrap="square" lIns="0" tIns="0" rIns="0" bIns="0" rtlCol="0" anchor="ctr"/>
          <a:lstStyle/>
          <a:p>
            <a:pPr marL="0" indent="0" algn="r">
              <a:buNone/>
            </a:pPr>
            <a:r>
              <a:rPr lang="en-US" sz="4000" b="1" dirty="0">
                <a:solidFill>
                  <a:srgbClr val="1F6FA8"/>
                </a:solidFill>
                <a:latin typeface="Calibri" pitchFamily="34" charset="0"/>
                <a:ea typeface="Calibri" pitchFamily="34" charset="-122"/>
                <a:cs typeface="Calibri" pitchFamily="34" charset="-120"/>
              </a:rPr>
              <a:t>11</a:t>
            </a:r>
            <a:endParaRPr lang="en-US" sz="4000" dirty="0"/>
          </a:p>
        </p:txBody>
      </p:sp>
      <p:sp>
        <p:nvSpPr>
          <p:cNvPr id="15" name="Text 13"/>
          <p:cNvSpPr/>
          <p:nvPr/>
        </p:nvSpPr>
        <p:spPr>
          <a:xfrm>
            <a:off x="9006840" y="5193792"/>
            <a:ext cx="2743200" cy="731520"/>
          </a:xfrm>
          <a:prstGeom prst="rect">
            <a:avLst/>
          </a:prstGeom>
          <a:noFill/>
          <a:ln/>
        </p:spPr>
        <p:txBody>
          <a:bodyPr wrap="square" lIns="0" tIns="0" rIns="0" bIns="0" rtlCol="0" anchor="t"/>
          <a:lstStyle/>
          <a:p>
            <a:pPr marL="0" indent="0">
              <a:buNone/>
            </a:pPr>
            <a:r>
              <a:rPr lang="en-US" sz="1300" dirty="0">
                <a:solidFill>
                  <a:srgbClr val="666666"/>
                </a:solidFill>
                <a:latin typeface="Calibri" pitchFamily="34" charset="0"/>
                <a:ea typeface="Calibri" pitchFamily="34" charset="-122"/>
                <a:cs typeface="Calibri" pitchFamily="34" charset="-120"/>
              </a:rPr>
              <a:t>candidate features per property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515600" cy="731520"/>
          </a:xfrm>
          <a:prstGeom prst="rect">
            <a:avLst/>
          </a:prstGeom>
          <a:noFill/>
          <a:ln/>
        </p:spPr>
        <p:txBody>
          <a:bodyPr wrap="square" lIns="0" tIns="0" rIns="0" bIns="0"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Data processing</a:t>
            </a:r>
            <a:endParaRPr lang="en-US" sz="3200" dirty="0"/>
          </a:p>
        </p:txBody>
      </p:sp>
      <p:sp>
        <p:nvSpPr>
          <p:cNvPr id="3" name="Shape 1"/>
          <p:cNvSpPr/>
          <p:nvPr/>
        </p:nvSpPr>
        <p:spPr>
          <a:xfrm>
            <a:off x="11292840" y="502920"/>
            <a:ext cx="128016" cy="128016"/>
          </a:xfrm>
          <a:prstGeom prst="ellipse">
            <a:avLst/>
          </a:prstGeom>
          <a:solidFill>
            <a:srgbClr val="1F6FA8"/>
          </a:solidFill>
          <a:ln/>
        </p:spPr>
        <p:txBody>
          <a:bodyPr/>
          <a:lstStyle/>
          <a:p>
            <a:endParaRPr lang="en-US"/>
          </a:p>
        </p:txBody>
      </p:sp>
      <p:sp>
        <p:nvSpPr>
          <p:cNvPr id="4" name="Shape 2"/>
          <p:cNvSpPr/>
          <p:nvPr/>
        </p:nvSpPr>
        <p:spPr>
          <a:xfrm>
            <a:off x="11512296" y="502920"/>
            <a:ext cx="128016" cy="128016"/>
          </a:xfrm>
          <a:prstGeom prst="ellipse">
            <a:avLst/>
          </a:prstGeom>
          <a:solidFill>
            <a:srgbClr val="7C4DA8"/>
          </a:solidFill>
          <a:ln/>
        </p:spPr>
        <p:txBody>
          <a:bodyPr/>
          <a:lstStyle/>
          <a:p>
            <a:endParaRPr lang="en-US"/>
          </a:p>
        </p:txBody>
      </p:sp>
      <p:sp>
        <p:nvSpPr>
          <p:cNvPr id="5" name="Shape 3"/>
          <p:cNvSpPr/>
          <p:nvPr/>
        </p:nvSpPr>
        <p:spPr>
          <a:xfrm>
            <a:off x="11731752" y="502920"/>
            <a:ext cx="128016" cy="128016"/>
          </a:xfrm>
          <a:prstGeom prst="ellipse">
            <a:avLst/>
          </a:prstGeom>
          <a:solidFill>
            <a:srgbClr val="2E8B57"/>
          </a:solidFill>
          <a:ln/>
        </p:spPr>
        <p:txBody>
          <a:bodyPr/>
          <a:lstStyle/>
          <a:p>
            <a:endParaRPr lang="en-US"/>
          </a:p>
        </p:txBody>
      </p:sp>
      <p:sp>
        <p:nvSpPr>
          <p:cNvPr id="6" name="Shape 4"/>
          <p:cNvSpPr/>
          <p:nvPr/>
        </p:nvSpPr>
        <p:spPr>
          <a:xfrm>
            <a:off x="11951208" y="502920"/>
            <a:ext cx="128016" cy="128016"/>
          </a:xfrm>
          <a:prstGeom prst="ellipse">
            <a:avLst/>
          </a:prstGeom>
          <a:solidFill>
            <a:srgbClr val="B8860B"/>
          </a:solidFill>
          <a:ln/>
        </p:spPr>
        <p:txBody>
          <a:bodyPr/>
          <a:lstStyle/>
          <a:p>
            <a:endParaRPr lang="en-US"/>
          </a:p>
        </p:txBody>
      </p:sp>
      <p:sp>
        <p:nvSpPr>
          <p:cNvPr id="7" name="Text 5"/>
          <p:cNvSpPr/>
          <p:nvPr/>
        </p:nvSpPr>
        <p:spPr>
          <a:xfrm>
            <a:off x="548640" y="1371600"/>
            <a:ext cx="5029200" cy="4937760"/>
          </a:xfrm>
          <a:prstGeom prst="rect">
            <a:avLst/>
          </a:prstGeom>
          <a:noFill/>
          <a:ln/>
        </p:spPr>
        <p:txBody>
          <a:bodyPr wrap="square" lIns="0" tIns="0" rIns="0" bIns="0" rtlCol="0" anchor="t"/>
          <a:lstStyle/>
          <a:p>
            <a:pPr marL="0" indent="0">
              <a:spcAft>
                <a:spcPts val="600"/>
              </a:spcAft>
              <a:buNone/>
            </a:pPr>
            <a:r>
              <a:rPr lang="en-US" sz="1600" b="1" dirty="0">
                <a:solidFill>
                  <a:srgbClr val="7C4DA8"/>
                </a:solidFill>
                <a:latin typeface="Calibri" pitchFamily="34" charset="0"/>
                <a:ea typeface="Calibri" pitchFamily="34" charset="-122"/>
                <a:cs typeface="Calibri" pitchFamily="34" charset="-120"/>
              </a:rPr>
              <a:t>Dataset</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1,879 rows × 11 columns; zero missing values</a:t>
            </a:r>
            <a:endParaRPr lang="en-US" sz="1500" dirty="0"/>
          </a:p>
          <a:p>
            <a:pPr marL="342900" indent="-342900">
              <a:spcAft>
                <a:spcPts val="1200"/>
              </a:spcAft>
              <a:buSzPct val="100000"/>
              <a:buChar char="•"/>
            </a:pPr>
            <a:r>
              <a:rPr lang="en-US" sz="1500" dirty="0">
                <a:solidFill>
                  <a:srgbClr val="1A1A1A"/>
                </a:solidFill>
                <a:latin typeface="Calibri" pitchFamily="34" charset="0"/>
                <a:ea typeface="Calibri" pitchFamily="34" charset="-122"/>
                <a:cs typeface="Calibri" pitchFamily="34" charset="-120"/>
              </a:rPr>
              <a:t>Target: price  —  mean $423,055, std $151,538</a:t>
            </a:r>
            <a:endParaRPr lang="en-US" sz="1500" dirty="0"/>
          </a:p>
          <a:p>
            <a:pPr marL="0" indent="0">
              <a:spcAft>
                <a:spcPts val="600"/>
              </a:spcAft>
              <a:buNone/>
            </a:pPr>
            <a:r>
              <a:rPr lang="en-US" sz="1600" b="1" dirty="0">
                <a:solidFill>
                  <a:srgbClr val="7C4DA8"/>
                </a:solidFill>
                <a:latin typeface="Calibri" pitchFamily="34" charset="0"/>
                <a:ea typeface="Calibri" pitchFamily="34" charset="-122"/>
                <a:cs typeface="Calibri" pitchFamily="34" charset="-120"/>
              </a:rPr>
              <a:t>Feature engineering</a:t>
            </a:r>
            <a:endParaRPr lang="en-US" sz="1500" dirty="0"/>
          </a:p>
          <a:p>
            <a:pPr marL="342900" indent="-342900">
              <a:spcAft>
                <a:spcPts val="1200"/>
              </a:spcAft>
              <a:buSzPct val="100000"/>
              <a:buChar char="•"/>
            </a:pPr>
            <a:r>
              <a:rPr lang="en-US" sz="1500" dirty="0">
                <a:solidFill>
                  <a:srgbClr val="1A1A1A"/>
                </a:solidFill>
                <a:latin typeface="Calibri" pitchFamily="34" charset="0"/>
                <a:ea typeface="Calibri" pitchFamily="34" charset="-122"/>
                <a:cs typeface="Calibri" pitchFamily="34" charset="-120"/>
              </a:rPr>
              <a:t>property_type one-hot encoded (Condo / Bungalow) → 11 features, none dropped</a:t>
            </a:r>
            <a:endParaRPr lang="en-US" sz="1500" dirty="0"/>
          </a:p>
          <a:p>
            <a:pPr marL="0" indent="0">
              <a:spcAft>
                <a:spcPts val="600"/>
              </a:spcAft>
              <a:buNone/>
            </a:pPr>
            <a:r>
              <a:rPr lang="en-US" sz="1600" b="1" dirty="0">
                <a:solidFill>
                  <a:srgbClr val="7C4DA8"/>
                </a:solidFill>
                <a:latin typeface="Calibri" pitchFamily="34" charset="0"/>
                <a:ea typeface="Calibri" pitchFamily="34" charset="-122"/>
                <a:cs typeface="Calibri" pitchFamily="34" charset="-120"/>
              </a:rPr>
              <a:t>Top correlations with price</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property_tax 0.53  ·  insurance 0.53  ·  sqft 0.47</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baths 0.39  ·  beds 0.38  ·  basement 0.27</a:t>
            </a:r>
            <a:endParaRPr lang="en-US" sz="1500" dirty="0"/>
          </a:p>
        </p:txBody>
      </p:sp>
      <p:pic>
        <p:nvPicPr>
          <p:cNvPr id="8" name="Image 0" descr="EDA_heatmap.png"/>
          <p:cNvPicPr>
            <a:picLocks noChangeAspect="1"/>
          </p:cNvPicPr>
          <p:nvPr/>
        </p:nvPicPr>
        <p:blipFill>
          <a:blip r:embed="rId3"/>
          <a:stretch>
            <a:fillRect/>
          </a:stretch>
        </p:blipFill>
        <p:spPr>
          <a:xfrm>
            <a:off x="5806440" y="1325880"/>
            <a:ext cx="4160520" cy="3529584"/>
          </a:xfrm>
          <a:prstGeom prst="rect">
            <a:avLst/>
          </a:prstGeom>
        </p:spPr>
      </p:pic>
      <p:pic>
        <p:nvPicPr>
          <p:cNvPr id="9" name="Image 1" descr="EDA_target_histogram.png"/>
          <p:cNvPicPr>
            <a:picLocks noChangeAspect="1"/>
          </p:cNvPicPr>
          <p:nvPr/>
        </p:nvPicPr>
        <p:blipFill>
          <a:blip r:embed="rId4"/>
          <a:stretch>
            <a:fillRect/>
          </a:stretch>
        </p:blipFill>
        <p:spPr>
          <a:xfrm>
            <a:off x="5806440" y="4937760"/>
            <a:ext cx="2249424" cy="1600200"/>
          </a:xfrm>
          <a:prstGeom prst="rect">
            <a:avLst/>
          </a:prstGeom>
        </p:spPr>
      </p:pic>
      <p:sp>
        <p:nvSpPr>
          <p:cNvPr id="10" name="Text 6"/>
          <p:cNvSpPr/>
          <p:nvPr/>
        </p:nvSpPr>
        <p:spPr>
          <a:xfrm>
            <a:off x="8275320" y="4983480"/>
            <a:ext cx="3291840" cy="1463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Right-skewed price distribution;</a:t>
            </a:r>
            <a:endParaRPr lang="en-US" sz="1200" dirty="0"/>
          </a:p>
          <a:p>
            <a:pPr marL="0" indent="0">
              <a:buNone/>
            </a:pPr>
            <a:r>
              <a:rPr lang="en-US" sz="1200" i="1" dirty="0">
                <a:solidFill>
                  <a:srgbClr val="666666"/>
                </a:solidFill>
                <a:latin typeface="Calibri" pitchFamily="34" charset="0"/>
                <a:ea typeface="Calibri" pitchFamily="34" charset="-122"/>
                <a:cs typeface="Calibri" pitchFamily="34" charset="-120"/>
              </a:rPr>
              <a:t>costs (tax, insurance) correlate</a:t>
            </a:r>
            <a:endParaRPr lang="en-US" sz="1200" dirty="0"/>
          </a:p>
          <a:p>
            <a:pPr marL="0" indent="0">
              <a:buNone/>
            </a:pPr>
            <a:r>
              <a:rPr lang="en-US" sz="1200" i="1" dirty="0">
                <a:solidFill>
                  <a:srgbClr val="666666"/>
                </a:solidFill>
                <a:latin typeface="Calibri" pitchFamily="34" charset="0"/>
                <a:ea typeface="Calibri" pitchFamily="34" charset="-122"/>
                <a:cs typeface="Calibri" pitchFamily="34" charset="-120"/>
              </a:rPr>
              <a:t>most strongly with price.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515600" cy="731520"/>
          </a:xfrm>
          <a:prstGeom prst="rect">
            <a:avLst/>
          </a:prstGeom>
          <a:noFill/>
          <a:ln/>
        </p:spPr>
        <p:txBody>
          <a:bodyPr wrap="square" lIns="0" tIns="0" rIns="0" bIns="0"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Modelling</a:t>
            </a:r>
            <a:endParaRPr lang="en-US" sz="3200" dirty="0"/>
          </a:p>
        </p:txBody>
      </p:sp>
      <p:sp>
        <p:nvSpPr>
          <p:cNvPr id="3" name="Shape 1"/>
          <p:cNvSpPr/>
          <p:nvPr/>
        </p:nvSpPr>
        <p:spPr>
          <a:xfrm>
            <a:off x="11292840" y="502920"/>
            <a:ext cx="128016" cy="128016"/>
          </a:xfrm>
          <a:prstGeom prst="ellipse">
            <a:avLst/>
          </a:prstGeom>
          <a:solidFill>
            <a:srgbClr val="1F6FA8"/>
          </a:solidFill>
          <a:ln/>
        </p:spPr>
        <p:txBody>
          <a:bodyPr/>
          <a:lstStyle/>
          <a:p>
            <a:endParaRPr lang="en-US"/>
          </a:p>
        </p:txBody>
      </p:sp>
      <p:sp>
        <p:nvSpPr>
          <p:cNvPr id="4" name="Shape 2"/>
          <p:cNvSpPr/>
          <p:nvPr/>
        </p:nvSpPr>
        <p:spPr>
          <a:xfrm>
            <a:off x="11512296" y="502920"/>
            <a:ext cx="128016" cy="128016"/>
          </a:xfrm>
          <a:prstGeom prst="ellipse">
            <a:avLst/>
          </a:prstGeom>
          <a:solidFill>
            <a:srgbClr val="7C4DA8"/>
          </a:solidFill>
          <a:ln/>
        </p:spPr>
        <p:txBody>
          <a:bodyPr/>
          <a:lstStyle/>
          <a:p>
            <a:endParaRPr lang="en-US"/>
          </a:p>
        </p:txBody>
      </p:sp>
      <p:sp>
        <p:nvSpPr>
          <p:cNvPr id="5" name="Shape 3"/>
          <p:cNvSpPr/>
          <p:nvPr/>
        </p:nvSpPr>
        <p:spPr>
          <a:xfrm>
            <a:off x="11731752" y="502920"/>
            <a:ext cx="128016" cy="128016"/>
          </a:xfrm>
          <a:prstGeom prst="ellipse">
            <a:avLst/>
          </a:prstGeom>
          <a:solidFill>
            <a:srgbClr val="2E8B57"/>
          </a:solidFill>
          <a:ln/>
        </p:spPr>
        <p:txBody>
          <a:bodyPr/>
          <a:lstStyle/>
          <a:p>
            <a:endParaRPr lang="en-US"/>
          </a:p>
        </p:txBody>
      </p:sp>
      <p:sp>
        <p:nvSpPr>
          <p:cNvPr id="6" name="Shape 4"/>
          <p:cNvSpPr/>
          <p:nvPr/>
        </p:nvSpPr>
        <p:spPr>
          <a:xfrm>
            <a:off x="11951208" y="502920"/>
            <a:ext cx="128016" cy="128016"/>
          </a:xfrm>
          <a:prstGeom prst="ellipse">
            <a:avLst/>
          </a:prstGeom>
          <a:solidFill>
            <a:srgbClr val="B8860B"/>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1536192"/>
        </p:xfrm>
        <a:graphic>
          <a:graphicData uri="http://schemas.openxmlformats.org/drawingml/2006/table">
            <a:tbl>
              <a:tblPr/>
              <a:tblGrid>
                <a:gridCol w="1828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840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E8B5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Train MAE</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E8B5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Test MAE</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E8B5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Test RMSE</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E8B5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Test R²</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E8B57"/>
                    </a:solidFill>
                  </a:tcPr>
                </a:tc>
                <a:extLst>
                  <a:ext uri="{0D108BD9-81ED-4DB2-BD59-A6C34878D82A}">
                    <a16:rowId xmlns:a16="http://schemas.microsoft.com/office/drawing/2014/main" val="10000"/>
                  </a:ext>
                </a:extLst>
              </a:tr>
              <a:tr h="384048">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BF7EA"/>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$17,619</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BF7EA"/>
                    </a:solidFill>
                  </a:tcPr>
                </a:tc>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$43,795</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BF7EA"/>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$64,424</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BF7EA"/>
                    </a:solidFill>
                  </a:tcPr>
                </a:tc>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0.834</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BF7EA"/>
                    </a:solidFill>
                  </a:tcPr>
                </a:tc>
                <a:extLst>
                  <a:ext uri="{0D108BD9-81ED-4DB2-BD59-A6C34878D82A}">
                    <a16:rowId xmlns:a16="http://schemas.microsoft.com/office/drawing/2014/main" val="10001"/>
                  </a:ext>
                </a:extLst>
              </a:tr>
              <a:tr h="384048">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$33,336</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$44,611</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$65,024</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0.831</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Linear Regression</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$91,017</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$92,220</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$116,262</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0.459</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p:nvPr/>
        </p:nvSpPr>
        <p:spPr>
          <a:xfrm>
            <a:off x="548640" y="3429000"/>
            <a:ext cx="548640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Same 80/20 stratified split shared by all models (fair comparison).</a:t>
            </a:r>
            <a:endParaRPr lang="en-US" sz="1500" dirty="0"/>
          </a:p>
          <a:p>
            <a:pPr marL="342900" indent="-3429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Selection criterion: lowest test MAE → Random Forest (200 trees, absolute-error criterion).</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Nonlinear ensembles halve the error of Linear Regression — price drivers interact nonlinearly.</a:t>
            </a:r>
            <a:endParaRPr lang="en-US" sz="1500" dirty="0"/>
          </a:p>
        </p:txBody>
      </p:sp>
      <p:pic>
        <p:nvPicPr>
          <p:cNvPr id="9" name="Image 0" descr="model_comparison.png"/>
          <p:cNvPicPr>
            <a:picLocks noChangeAspect="1"/>
          </p:cNvPicPr>
          <p:nvPr/>
        </p:nvPicPr>
        <p:blipFill>
          <a:blip r:embed="rId3"/>
          <a:stretch>
            <a:fillRect/>
          </a:stretch>
        </p:blipFill>
        <p:spPr>
          <a:xfrm>
            <a:off x="6355080" y="1417320"/>
            <a:ext cx="5486400" cy="2286000"/>
          </a:xfrm>
          <a:prstGeom prst="rect">
            <a:avLst/>
          </a:prstGeom>
        </p:spPr>
      </p:pic>
      <p:pic>
        <p:nvPicPr>
          <p:cNvPr id="10" name="Image 1" descr="mae_comparison.png"/>
          <p:cNvPicPr>
            <a:picLocks noChangeAspect="1"/>
          </p:cNvPicPr>
          <p:nvPr/>
        </p:nvPicPr>
        <p:blipFill>
          <a:blip r:embed="rId4"/>
          <a:stretch>
            <a:fillRect/>
          </a:stretch>
        </p:blipFill>
        <p:spPr>
          <a:xfrm>
            <a:off x="6995160" y="3886200"/>
            <a:ext cx="3291840" cy="2606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515600" cy="731520"/>
          </a:xfrm>
          <a:prstGeom prst="rect">
            <a:avLst/>
          </a:prstGeom>
          <a:noFill/>
          <a:ln/>
        </p:spPr>
        <p:txBody>
          <a:bodyPr wrap="square" lIns="0" tIns="0" rIns="0" bIns="0"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Business intelligence</a:t>
            </a:r>
            <a:endParaRPr lang="en-US" sz="3200" dirty="0"/>
          </a:p>
        </p:txBody>
      </p:sp>
      <p:sp>
        <p:nvSpPr>
          <p:cNvPr id="3" name="Shape 1"/>
          <p:cNvSpPr/>
          <p:nvPr/>
        </p:nvSpPr>
        <p:spPr>
          <a:xfrm>
            <a:off x="11292840" y="502920"/>
            <a:ext cx="128016" cy="128016"/>
          </a:xfrm>
          <a:prstGeom prst="ellipse">
            <a:avLst/>
          </a:prstGeom>
          <a:solidFill>
            <a:srgbClr val="1F6FA8"/>
          </a:solidFill>
          <a:ln/>
        </p:spPr>
        <p:txBody>
          <a:bodyPr/>
          <a:lstStyle/>
          <a:p>
            <a:endParaRPr lang="en-US"/>
          </a:p>
        </p:txBody>
      </p:sp>
      <p:sp>
        <p:nvSpPr>
          <p:cNvPr id="4" name="Shape 2"/>
          <p:cNvSpPr/>
          <p:nvPr/>
        </p:nvSpPr>
        <p:spPr>
          <a:xfrm>
            <a:off x="11512296" y="502920"/>
            <a:ext cx="128016" cy="128016"/>
          </a:xfrm>
          <a:prstGeom prst="ellipse">
            <a:avLst/>
          </a:prstGeom>
          <a:solidFill>
            <a:srgbClr val="7C4DA8"/>
          </a:solidFill>
          <a:ln/>
        </p:spPr>
        <p:txBody>
          <a:bodyPr/>
          <a:lstStyle/>
          <a:p>
            <a:endParaRPr lang="en-US"/>
          </a:p>
        </p:txBody>
      </p:sp>
      <p:sp>
        <p:nvSpPr>
          <p:cNvPr id="5" name="Shape 3"/>
          <p:cNvSpPr/>
          <p:nvPr/>
        </p:nvSpPr>
        <p:spPr>
          <a:xfrm>
            <a:off x="11731752" y="502920"/>
            <a:ext cx="128016" cy="128016"/>
          </a:xfrm>
          <a:prstGeom prst="ellipse">
            <a:avLst/>
          </a:prstGeom>
          <a:solidFill>
            <a:srgbClr val="2E8B57"/>
          </a:solidFill>
          <a:ln/>
        </p:spPr>
        <p:txBody>
          <a:bodyPr/>
          <a:lstStyle/>
          <a:p>
            <a:endParaRPr lang="en-US"/>
          </a:p>
        </p:txBody>
      </p:sp>
      <p:sp>
        <p:nvSpPr>
          <p:cNvPr id="6" name="Shape 4"/>
          <p:cNvSpPr/>
          <p:nvPr/>
        </p:nvSpPr>
        <p:spPr>
          <a:xfrm>
            <a:off x="11951208" y="502920"/>
            <a:ext cx="128016" cy="128016"/>
          </a:xfrm>
          <a:prstGeom prst="ellipse">
            <a:avLst/>
          </a:prstGeom>
          <a:solidFill>
            <a:srgbClr val="B8860B"/>
          </a:solidFill>
          <a:ln/>
        </p:spPr>
        <p:txBody>
          <a:bodyPr/>
          <a:lstStyle/>
          <a:p>
            <a:endParaRPr lang="en-US"/>
          </a:p>
        </p:txBody>
      </p:sp>
      <p:pic>
        <p:nvPicPr>
          <p:cNvPr id="7" name="Image 0" descr="feature_importance.png"/>
          <p:cNvPicPr>
            <a:picLocks noChangeAspect="1"/>
          </p:cNvPicPr>
          <p:nvPr/>
        </p:nvPicPr>
        <p:blipFill>
          <a:blip r:embed="rId3"/>
          <a:stretch>
            <a:fillRect/>
          </a:stretch>
        </p:blipFill>
        <p:spPr>
          <a:xfrm>
            <a:off x="548640" y="1371600"/>
            <a:ext cx="5760720" cy="4617720"/>
          </a:xfrm>
          <a:prstGeom prst="rect">
            <a:avLst/>
          </a:prstGeom>
        </p:spPr>
      </p:pic>
      <p:sp>
        <p:nvSpPr>
          <p:cNvPr id="8" name="Text 5"/>
          <p:cNvSpPr/>
          <p:nvPr/>
        </p:nvSpPr>
        <p:spPr>
          <a:xfrm>
            <a:off x="6629400" y="1371600"/>
            <a:ext cx="5029200" cy="4937760"/>
          </a:xfrm>
          <a:prstGeom prst="rect">
            <a:avLst/>
          </a:prstGeom>
          <a:noFill/>
          <a:ln/>
        </p:spPr>
        <p:txBody>
          <a:bodyPr wrap="square" lIns="0" tIns="0" rIns="0" bIns="0" rtlCol="0" anchor="t"/>
          <a:lstStyle/>
          <a:p>
            <a:pPr marL="0" indent="0">
              <a:spcAft>
                <a:spcPts val="800"/>
              </a:spcAft>
              <a:buNone/>
            </a:pPr>
            <a:r>
              <a:rPr lang="en-US" sz="1700" b="1" dirty="0">
                <a:solidFill>
                  <a:srgbClr val="B8860B"/>
                </a:solidFill>
                <a:latin typeface="Calibri" pitchFamily="34" charset="0"/>
                <a:ea typeface="Calibri" pitchFamily="34" charset="-122"/>
                <a:cs typeface="Calibri" pitchFamily="34" charset="-120"/>
              </a:rPr>
              <a:t>Insight</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Top drivers: insurance (0.41), year_sold (0.24), property_tax (0.10) — carrying costs and market timing dominate.</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Raw size (sqft 0.07) and bed/bath counts matter far less than heuristics assume.</a:t>
            </a:r>
            <a:endParaRPr lang="en-US" sz="1500" dirty="0"/>
          </a:p>
          <a:p>
            <a:pPr marL="342900" indent="-342900">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Property type and basement add almost nothing once costs are known.</a:t>
            </a:r>
            <a:endParaRPr lang="en-US" sz="1500" dirty="0"/>
          </a:p>
          <a:p>
            <a:pPr marL="0" indent="0">
              <a:spcAft>
                <a:spcPts val="800"/>
              </a:spcAft>
              <a:buNone/>
            </a:pPr>
            <a:r>
              <a:rPr lang="en-US" sz="1700" b="1" dirty="0">
                <a:solidFill>
                  <a:srgbClr val="B8860B"/>
                </a:solidFill>
                <a:latin typeface="Calibri" pitchFamily="34" charset="0"/>
                <a:ea typeface="Calibri" pitchFamily="34" charset="-122"/>
                <a:cs typeface="Calibri" pitchFamily="34" charset="-120"/>
              </a:rPr>
              <a:t>What to do</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Anchor pricing guidelines on the top cost/timing factors, not $/sqft alone.</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Flag listings where |actual − predicted| is large (≈ &gt; $44K MAE) for manual review.</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Serve predictions through the Streamlit app next to both heuristics for transparency.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515600" cy="731520"/>
          </a:xfrm>
          <a:prstGeom prst="rect">
            <a:avLst/>
          </a:prstGeom>
          <a:noFill/>
          <a:ln/>
        </p:spPr>
        <p:txBody>
          <a:bodyPr wrap="square" lIns="0" tIns="0" rIns="0" bIns="0"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Caveats</a:t>
            </a:r>
            <a:endParaRPr lang="en-US" sz="3200" dirty="0"/>
          </a:p>
        </p:txBody>
      </p:sp>
      <p:sp>
        <p:nvSpPr>
          <p:cNvPr id="3" name="Shape 1"/>
          <p:cNvSpPr/>
          <p:nvPr/>
        </p:nvSpPr>
        <p:spPr>
          <a:xfrm>
            <a:off x="11292840" y="502920"/>
            <a:ext cx="128016" cy="128016"/>
          </a:xfrm>
          <a:prstGeom prst="ellipse">
            <a:avLst/>
          </a:prstGeom>
          <a:solidFill>
            <a:srgbClr val="1F6FA8"/>
          </a:solidFill>
          <a:ln/>
        </p:spPr>
        <p:txBody>
          <a:bodyPr/>
          <a:lstStyle/>
          <a:p>
            <a:endParaRPr lang="en-US"/>
          </a:p>
        </p:txBody>
      </p:sp>
      <p:sp>
        <p:nvSpPr>
          <p:cNvPr id="4" name="Shape 2"/>
          <p:cNvSpPr/>
          <p:nvPr/>
        </p:nvSpPr>
        <p:spPr>
          <a:xfrm>
            <a:off x="11512296" y="502920"/>
            <a:ext cx="128016" cy="128016"/>
          </a:xfrm>
          <a:prstGeom prst="ellipse">
            <a:avLst/>
          </a:prstGeom>
          <a:solidFill>
            <a:srgbClr val="7C4DA8"/>
          </a:solidFill>
          <a:ln/>
        </p:spPr>
        <p:txBody>
          <a:bodyPr/>
          <a:lstStyle/>
          <a:p>
            <a:endParaRPr lang="en-US"/>
          </a:p>
        </p:txBody>
      </p:sp>
      <p:sp>
        <p:nvSpPr>
          <p:cNvPr id="5" name="Shape 3"/>
          <p:cNvSpPr/>
          <p:nvPr/>
        </p:nvSpPr>
        <p:spPr>
          <a:xfrm>
            <a:off x="11731752" y="502920"/>
            <a:ext cx="128016" cy="128016"/>
          </a:xfrm>
          <a:prstGeom prst="ellipse">
            <a:avLst/>
          </a:prstGeom>
          <a:solidFill>
            <a:srgbClr val="2E8B57"/>
          </a:solidFill>
          <a:ln/>
        </p:spPr>
        <p:txBody>
          <a:bodyPr/>
          <a:lstStyle/>
          <a:p>
            <a:endParaRPr lang="en-US"/>
          </a:p>
        </p:txBody>
      </p:sp>
      <p:sp>
        <p:nvSpPr>
          <p:cNvPr id="6" name="Shape 4"/>
          <p:cNvSpPr/>
          <p:nvPr/>
        </p:nvSpPr>
        <p:spPr>
          <a:xfrm>
            <a:off x="11951208" y="502920"/>
            <a:ext cx="128016" cy="128016"/>
          </a:xfrm>
          <a:prstGeom prst="ellipse">
            <a:avLst/>
          </a:prstGeom>
          <a:solidFill>
            <a:srgbClr val="B8860B"/>
          </a:solidFill>
          <a:ln/>
        </p:spPr>
        <p:txBody>
          <a:bodyPr/>
          <a:lstStyle/>
          <a:p>
            <a:endParaRPr lang="en-US"/>
          </a:p>
        </p:txBody>
      </p:sp>
      <p:sp>
        <p:nvSpPr>
          <p:cNvPr id="7" name="Shape 5"/>
          <p:cNvSpPr/>
          <p:nvPr/>
        </p:nvSpPr>
        <p:spPr>
          <a:xfrm>
            <a:off x="548640" y="1417320"/>
            <a:ext cx="5440680" cy="2148840"/>
          </a:xfrm>
          <a:prstGeom prst="roundRect">
            <a:avLst>
              <a:gd name="adj" fmla="val 3404"/>
            </a:avLst>
          </a:prstGeom>
          <a:solidFill>
            <a:srgbClr val="EBF7EA"/>
          </a:solidFill>
          <a:ln w="19050">
            <a:solidFill>
              <a:srgbClr val="A8E6A3"/>
            </a:solidFill>
            <a:prstDash val="solid"/>
          </a:ln>
        </p:spPr>
        <p:txBody>
          <a:bodyPr/>
          <a:lstStyle/>
          <a:p>
            <a:endParaRPr lang="en-US"/>
          </a:p>
        </p:txBody>
      </p:sp>
      <p:sp>
        <p:nvSpPr>
          <p:cNvPr id="8" name="Text 6"/>
          <p:cNvSpPr/>
          <p:nvPr/>
        </p:nvSpPr>
        <p:spPr>
          <a:xfrm>
            <a:off x="822960" y="1600200"/>
            <a:ext cx="4892040" cy="411480"/>
          </a:xfrm>
          <a:prstGeom prst="rect">
            <a:avLst/>
          </a:prstGeom>
          <a:noFill/>
          <a:ln/>
        </p:spPr>
        <p:txBody>
          <a:bodyPr wrap="square" lIns="0" tIns="0" rIns="0" bIns="0"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Overfitting gap</a:t>
            </a:r>
            <a:endParaRPr lang="en-US" sz="1700" dirty="0"/>
          </a:p>
        </p:txBody>
      </p:sp>
      <p:sp>
        <p:nvSpPr>
          <p:cNvPr id="9" name="Text 7"/>
          <p:cNvSpPr/>
          <p:nvPr/>
        </p:nvSpPr>
        <p:spPr>
          <a:xfrm>
            <a:off x="822960" y="1978377"/>
            <a:ext cx="4892040" cy="1371600"/>
          </a:xfrm>
          <a:prstGeom prst="rect">
            <a:avLst/>
          </a:prstGeom>
          <a:noFill/>
          <a:ln/>
        </p:spPr>
        <p:txBody>
          <a:bodyPr wrap="square" lIns="0" tIns="0" rIns="0" bIns="0" rtlCol="0" anchor="t"/>
          <a:lstStyle/>
          <a:p>
            <a:r>
              <a:rPr lang="en-US" sz="1400" dirty="0"/>
              <a:t>T</a:t>
            </a:r>
            <a:r>
              <a:rPr lang="en-CA" sz="1400" dirty="0"/>
              <a:t>he Random Forest achieved a much lower MAE on the training data ($17.6K) than on the test data ($43.8K), showing that it fits the training observations well but does not generalize equally well to unseen cases. This large performance gap provides evidence of overfitting, meaning the ensemble has learned not only meaningful patterns but also noise specific to the training set. Therefore, although the training result </a:t>
            </a:r>
            <a:r>
              <a:rPr lang="en-CA" sz="1400" dirty="0" err="1"/>
              <a:t>appe</a:t>
            </a:r>
            <a:endParaRPr lang="en-US" sz="1400" dirty="0"/>
          </a:p>
        </p:txBody>
      </p:sp>
      <p:sp>
        <p:nvSpPr>
          <p:cNvPr id="10" name="Shape 8"/>
          <p:cNvSpPr/>
          <p:nvPr/>
        </p:nvSpPr>
        <p:spPr>
          <a:xfrm>
            <a:off x="6309360" y="1417320"/>
            <a:ext cx="5440680" cy="2148840"/>
          </a:xfrm>
          <a:prstGeom prst="roundRect">
            <a:avLst>
              <a:gd name="adj" fmla="val 3404"/>
            </a:avLst>
          </a:prstGeom>
          <a:solidFill>
            <a:srgbClr val="F4EDFA"/>
          </a:solidFill>
          <a:ln w="19050">
            <a:solidFill>
              <a:srgbClr val="C9A6E8"/>
            </a:solidFill>
            <a:prstDash val="solid"/>
          </a:ln>
        </p:spPr>
        <p:txBody>
          <a:bodyPr/>
          <a:lstStyle/>
          <a:p>
            <a:endParaRPr lang="en-US"/>
          </a:p>
        </p:txBody>
      </p:sp>
      <p:sp>
        <p:nvSpPr>
          <p:cNvPr id="11" name="Text 9"/>
          <p:cNvSpPr/>
          <p:nvPr/>
        </p:nvSpPr>
        <p:spPr>
          <a:xfrm>
            <a:off x="6583680" y="1600200"/>
            <a:ext cx="4892040" cy="411480"/>
          </a:xfrm>
          <a:prstGeom prst="rect">
            <a:avLst/>
          </a:prstGeom>
          <a:noFill/>
          <a:ln/>
        </p:spPr>
        <p:txBody>
          <a:bodyPr wrap="square" lIns="0" tIns="0" rIns="0" bIns="0"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Proxy features</a:t>
            </a:r>
            <a:endParaRPr lang="en-US" sz="1700" dirty="0"/>
          </a:p>
        </p:txBody>
      </p:sp>
      <p:sp>
        <p:nvSpPr>
          <p:cNvPr id="12" name="Text 10"/>
          <p:cNvSpPr/>
          <p:nvPr/>
        </p:nvSpPr>
        <p:spPr>
          <a:xfrm>
            <a:off x="6583680" y="2057400"/>
            <a:ext cx="4892040" cy="1371600"/>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In heatmap, </a:t>
            </a:r>
            <a:r>
              <a:rPr lang="en-US" sz="1400" dirty="0" err="1">
                <a:solidFill>
                  <a:srgbClr val="1A1A1A"/>
                </a:solidFill>
                <a:latin typeface="Calibri" pitchFamily="34" charset="0"/>
                <a:ea typeface="Calibri" pitchFamily="34" charset="-122"/>
                <a:cs typeface="Calibri" pitchFamily="34" charset="-120"/>
              </a:rPr>
              <a:t>property_tax</a:t>
            </a:r>
            <a:r>
              <a:rPr lang="en-US" sz="1400" dirty="0">
                <a:solidFill>
                  <a:srgbClr val="1A1A1A"/>
                </a:solidFill>
                <a:latin typeface="Calibri" pitchFamily="34" charset="0"/>
                <a:ea typeface="Calibri" pitchFamily="34" charset="-122"/>
                <a:cs typeface="Calibri" pitchFamily="34" charset="-120"/>
              </a:rPr>
              <a:t> and insurance correlate 0.98 and are partly consequences of value — useful for valuation review, risky for pure forecasting.</a:t>
            </a:r>
            <a:endParaRPr lang="en-US" sz="1400" dirty="0"/>
          </a:p>
        </p:txBody>
      </p:sp>
      <p:sp>
        <p:nvSpPr>
          <p:cNvPr id="13" name="Shape 11"/>
          <p:cNvSpPr/>
          <p:nvPr/>
        </p:nvSpPr>
        <p:spPr>
          <a:xfrm>
            <a:off x="548640" y="3840480"/>
            <a:ext cx="5440680" cy="2148840"/>
          </a:xfrm>
          <a:prstGeom prst="roundRect">
            <a:avLst>
              <a:gd name="adj" fmla="val 3404"/>
            </a:avLst>
          </a:prstGeom>
          <a:solidFill>
            <a:srgbClr val="EAF4FB"/>
          </a:solidFill>
          <a:ln w="19050">
            <a:solidFill>
              <a:srgbClr val="8EC9F0"/>
            </a:solidFill>
            <a:prstDash val="solid"/>
          </a:ln>
        </p:spPr>
        <p:txBody>
          <a:bodyPr/>
          <a:lstStyle/>
          <a:p>
            <a:endParaRPr lang="en-US"/>
          </a:p>
        </p:txBody>
      </p:sp>
      <p:sp>
        <p:nvSpPr>
          <p:cNvPr id="14" name="Text 12"/>
          <p:cNvSpPr/>
          <p:nvPr/>
        </p:nvSpPr>
        <p:spPr>
          <a:xfrm>
            <a:off x="822960" y="4023360"/>
            <a:ext cx="4892040" cy="411480"/>
          </a:xfrm>
          <a:prstGeom prst="rect">
            <a:avLst/>
          </a:prstGeom>
          <a:noFill/>
          <a:ln/>
        </p:spPr>
        <p:txBody>
          <a:bodyPr wrap="square" lIns="0" tIns="0" rIns="0" bIns="0"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No location data</a:t>
            </a:r>
            <a:endParaRPr lang="en-US" sz="1700" dirty="0"/>
          </a:p>
        </p:txBody>
      </p:sp>
      <p:sp>
        <p:nvSpPr>
          <p:cNvPr id="15" name="Text 13"/>
          <p:cNvSpPr/>
          <p:nvPr/>
        </p:nvSpPr>
        <p:spPr>
          <a:xfrm>
            <a:off x="822960" y="4480560"/>
            <a:ext cx="4892040" cy="1371600"/>
          </a:xfrm>
          <a:prstGeom prst="rect">
            <a:avLst/>
          </a:prstGeom>
          <a:noFill/>
          <a:ln/>
        </p:spPr>
        <p:txBody>
          <a:bodyPr wrap="square" lIns="0" tIns="0" rIns="0" bIns="0" rtlCol="0" anchor="t"/>
          <a:lstStyle/>
          <a:p>
            <a:r>
              <a:rPr lang="en-CA" sz="1400" dirty="0"/>
              <a:t>The model excludes neighborhood, school, geographic, and urban–remote location features, leaving a substantial share of real-estate price variation unexplained and limiting its pricing accuracy.</a:t>
            </a:r>
          </a:p>
        </p:txBody>
      </p:sp>
      <p:sp>
        <p:nvSpPr>
          <p:cNvPr id="16" name="Shape 14"/>
          <p:cNvSpPr/>
          <p:nvPr/>
        </p:nvSpPr>
        <p:spPr>
          <a:xfrm>
            <a:off x="6309360" y="3840480"/>
            <a:ext cx="5440680" cy="2148840"/>
          </a:xfrm>
          <a:prstGeom prst="roundRect">
            <a:avLst>
              <a:gd name="adj" fmla="val 3404"/>
            </a:avLst>
          </a:prstGeom>
          <a:solidFill>
            <a:srgbClr val="FDF8E2"/>
          </a:solidFill>
          <a:ln w="19050">
            <a:solidFill>
              <a:srgbClr val="FFF09E"/>
            </a:solidFill>
            <a:prstDash val="solid"/>
          </a:ln>
        </p:spPr>
        <p:txBody>
          <a:bodyPr/>
          <a:lstStyle/>
          <a:p>
            <a:endParaRPr lang="en-US"/>
          </a:p>
        </p:txBody>
      </p:sp>
      <p:sp>
        <p:nvSpPr>
          <p:cNvPr id="17" name="Text 15"/>
          <p:cNvSpPr/>
          <p:nvPr/>
        </p:nvSpPr>
        <p:spPr>
          <a:xfrm>
            <a:off x="6583680" y="4023360"/>
            <a:ext cx="4892040" cy="411480"/>
          </a:xfrm>
          <a:prstGeom prst="rect">
            <a:avLst/>
          </a:prstGeom>
          <a:noFill/>
          <a:ln/>
        </p:spPr>
        <p:txBody>
          <a:bodyPr wrap="square" lIns="0" tIns="0" rIns="0" bIns="0"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Static snapshot</a:t>
            </a:r>
            <a:endParaRPr lang="en-US" sz="1700" dirty="0"/>
          </a:p>
        </p:txBody>
      </p:sp>
      <p:sp>
        <p:nvSpPr>
          <p:cNvPr id="18" name="Text 16"/>
          <p:cNvSpPr/>
          <p:nvPr/>
        </p:nvSpPr>
        <p:spPr>
          <a:xfrm>
            <a:off x="6583680" y="4480560"/>
            <a:ext cx="4892040" cy="1371600"/>
          </a:xfrm>
          <a:prstGeom prst="rect">
            <a:avLst/>
          </a:prstGeom>
          <a:noFill/>
          <a:ln/>
        </p:spPr>
        <p:txBody>
          <a:bodyPr wrap="square" lIns="0" tIns="0" rIns="0" bIns="0" rtlCol="0" anchor="t"/>
          <a:lstStyle/>
          <a:p>
            <a:r>
              <a:rPr lang="en-CA" sz="1400" dirty="0"/>
              <a:t>Because sales span multiple years without inflation adjustment, the model should be redesigned to incorporate these conditions and retrained as market conditions change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710</Words>
  <Application>Microsoft Macintosh PowerPoint</Application>
  <PresentationFormat>Widescreen</PresentationFormat>
  <Paragraphs>95</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Donghwan Won</cp:lastModifiedBy>
  <cp:revision>3</cp:revision>
  <dcterms:created xsi:type="dcterms:W3CDTF">2026-08-03T16:39:16Z</dcterms:created>
  <dcterms:modified xsi:type="dcterms:W3CDTF">2026-08-05T21:30:32Z</dcterms:modified>
</cp:coreProperties>
</file>