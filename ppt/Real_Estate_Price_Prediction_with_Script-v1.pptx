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451"/>
  </p:normalViewPr>
  <p:slideViewPr>
    <p:cSldViewPr snapToGrid="0" snapToObjects="1">
      <p:cViewPr varScale="1">
        <p:scale>
          <a:sx n="95" d="100"/>
          <a:sy n="95" d="100"/>
        </p:scale>
        <p:origin x="14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Hello</a:t>
            </a:r>
            <a:r>
              <a:rPr dirty="0"/>
              <a:t>, everyone. Today I will present our real-estate price prediction project. </a:t>
            </a:r>
            <a:endParaRPr lang="fr-CA" dirty="0"/>
          </a:p>
          <a:p>
            <a:r>
              <a:rPr dirty="0"/>
              <a:t>The central question is whether predictive modeling can outperform the simple rules of thumb commonly used to price homes. Using 1,879 residential sales, we compared three regression models and selected Random Forest for deployment. The purpose is not simply to produce another price estimate. It is to provide a more consistent valuation-support tool that can be compared transparently with traditional heuristics.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project follows four main stages. </a:t>
            </a:r>
            <a:endParaRPr lang="fr-CA" dirty="0"/>
          </a:p>
          <a:p>
            <a:r>
              <a:rPr dirty="0"/>
              <a:t>First, we defined the business need: determining whether predictive modeling can improve on simple valuation heuristics. </a:t>
            </a:r>
            <a:endParaRPr lang="fr-CA" dirty="0"/>
          </a:p>
          <a:p>
            <a:r>
              <a:rPr dirty="0"/>
              <a:t>Second, we prepared 1,879 complete sales records, encoded property type, and created a consistent eighty-twenty train-and-test split. </a:t>
            </a:r>
            <a:endParaRPr lang="fr-CA" dirty="0"/>
          </a:p>
          <a:p>
            <a:r>
              <a:rPr dirty="0"/>
              <a:t>Third, we compared Linear Regression, Random Forest, and Gradient Boosting on the same held-out test data. Random Forest produced the lowest test MAE, at approximately forty-three thousand eight hundred dollars, with an R-squared of 0.834. </a:t>
            </a:r>
            <a:endParaRPr lang="fr-CA" dirty="0"/>
          </a:p>
          <a:p>
            <a:r>
              <a:rPr dirty="0"/>
              <a:t>Finally, we translated the model into a business tool that supports valuation review, identifies large pricing gaps, and explains the major drivers behind each estimate.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business problem begins with the way properties are often priced. Agents commonly rely on average price per square foot or the average sale price for a property type. These methods are fast and easy to explain, but they can miss differences in quality, timing, and carrying costs, which may lead to systematic overpricing or underpricing. Our dataset contains 1,879 condo and bungalow sales, with an average sale price of about four hundred twenty-three thousand dollars and a range from two hundred thousand to eight hundred thousand dollars. Using eleven candidate features, our goal is to reduce average pricing error, create a more defensible guideline, and flag unusual listings for further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data preparation, we used 1,879 observations and eleven original fields, with no missing values. The target variable is sale price, with a mean of four hundred twenty-three thousand fifty-five dollars and a standard deviation of approximately one hundred fifty-one thousand five hundred dollars. Property type was one-hot encoded for condo and bungalow, resulting in eleven model features. The heatmap shows that property tax and insurance each have a correlation of 0.53 with price, followed by square footage at 0.47, bathrooms at 0.39, beds at 0.38, and basement at 0.27. The price distribution is right-skewed, so a smaller number of expensive homes extends the upper tail. These relationships are useful for prediction, but correlation alone does not establish causation, which becomes important when we discuss the model's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evaluated all three models using the same stratified eighty-twenty split so that the comparison would be fair. Random Forest achieved the lowest test MAE at forty-three thousand seven hundred ninety-five dollars and a test R-squared of 0.834. Gradient Boosting was very close, with a test MAE of forty-four thousand six hundred eleven dollars and an R-squared of 0.831. Linear Regression performed substantially worse, with a test MAE above ninety-two thousand dollars and an R-squared of 0.459. We therefore selected Random Forest using the held-out test MAE as the primary criterion. The result suggests that nonlinear ensemble methods capture interactions among the price drivers that a linear model misses. However, the lower training error also signals possible overfitting, which I will address in the caveats.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feature-importance results provide the business interpretation. Insurance is the largest model driver, followed by year sold and property tax. This suggests that carrying costs and market timing dominate the prediction more than property type alone. Square footage, bedroom count, and bathroom count contribute less than conventional pricing heuristics might imply, while condo-versus-bungalow type and basement status add little once the other cost-related information is known. Operationally, the model should support three actions: anchor pricing guidelines on the strongest cost and timing factors rather than price per square foot alone; flag listings whose actual and predicted prices differ by roughly one MAE, or about forty-four thousand dollars, for manual review; and display the model estimate beside both heuristic estimates in the Streamlit application so that users can understand and challenge the recommendation. Feature importance describes predictive influence, not necessarily causation.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caveats qualify the results. First, Random Forest has a clear overfitting gap: its training MAE is about seventeen thousand six hundred dollars, compared with forty-three thousand eight hundred dollars on the test data. Therefore, the test result is the more honest measure of expected performance on unseen properties. Second, property tax and insurance are highly correlated with each other and may partly result from assessed property value. Their predictive strength therefore introduces circularity, making the model more suitable for valuation review than pure advance forecasting. Third, the dataset does not include neighborhood, school district, coordinates, or urban-versus-remote location, leaving important real-estate variation unmodeled. Fourth, the sales cover multiple years without inflation adjustment, so the model represents a static market snapshot. The next version should incorporate location and time-sensitive economic features, be validated on new data, and be retrained as market conditions change. In conclusion, this model is a decision-support tool, not a replacement for professional judgment.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6887E6B-BA85-4A46-BA64-92A6A262BE8F}"/>
              </a:ext>
            </a:extLst>
          </p:cNvPr>
          <p:cNvSpPr>
            <a:spLocks noGrp="1"/>
          </p:cNvSpPr>
          <p:nvPr/>
        </p:nvSpPr>
        <p:spPr>
          <a:xfrm>
            <a:off x="5230368" y="1874520"/>
            <a:ext cx="274320" cy="274320"/>
          </a:xfrm>
          <a:prstGeom prst="ellipse">
            <a:avLst/>
          </a:prstGeom>
          <a:solidFill>
            <a:srgbClr val="1F6FA8"/>
          </a:solidFill>
        </p:spPr>
        <p:txBody>
          <a:bodyPr/>
          <a:lstStyle/>
          <a:p>
            <a:endParaRPr/>
          </a:p>
        </p:txBody>
      </p:sp>
      <p:sp>
        <p:nvSpPr>
          <p:cNvPr id="3" name="Shape 1">
            <a:extLst>
              <a:ext uri="{FF2B5EF4-FFF2-40B4-BE49-F238E27FC236}">
                <a16:creationId xmlns:a16="http://schemas.microsoft.com/office/drawing/2014/main" id="{AAAEB909-7F96-46D0-AB8C-FF809692F29A}"/>
              </a:ext>
            </a:extLst>
          </p:cNvPr>
          <p:cNvSpPr>
            <a:spLocks noGrp="1"/>
          </p:cNvSpPr>
          <p:nvPr/>
        </p:nvSpPr>
        <p:spPr>
          <a:xfrm>
            <a:off x="5596128" y="1874520"/>
            <a:ext cx="274320" cy="274320"/>
          </a:xfrm>
          <a:prstGeom prst="ellipse">
            <a:avLst/>
          </a:prstGeom>
          <a:solidFill>
            <a:srgbClr val="7C4DA8"/>
          </a:solidFill>
        </p:spPr>
        <p:txBody>
          <a:bodyPr/>
          <a:lstStyle/>
          <a:p>
            <a:endParaRPr/>
          </a:p>
        </p:txBody>
      </p:sp>
      <p:sp>
        <p:nvSpPr>
          <p:cNvPr id="4" name="Shape 2">
            <a:extLst>
              <a:ext uri="{FF2B5EF4-FFF2-40B4-BE49-F238E27FC236}">
                <a16:creationId xmlns:a16="http://schemas.microsoft.com/office/drawing/2014/main" id="{04610277-45AA-46D9-87FE-64EAAC64EA51}"/>
              </a:ext>
            </a:extLst>
          </p:cNvPr>
          <p:cNvSpPr>
            <a:spLocks noGrp="1"/>
          </p:cNvSpPr>
          <p:nvPr/>
        </p:nvSpPr>
        <p:spPr>
          <a:xfrm>
            <a:off x="5961888" y="1874520"/>
            <a:ext cx="274320" cy="274320"/>
          </a:xfrm>
          <a:prstGeom prst="ellipse">
            <a:avLst/>
          </a:prstGeom>
          <a:solidFill>
            <a:srgbClr val="2E8B57"/>
          </a:solidFill>
        </p:spPr>
        <p:txBody>
          <a:bodyPr/>
          <a:lstStyle/>
          <a:p>
            <a:endParaRPr/>
          </a:p>
        </p:txBody>
      </p:sp>
      <p:sp>
        <p:nvSpPr>
          <p:cNvPr id="5" name="Shape 3">
            <a:extLst>
              <a:ext uri="{FF2B5EF4-FFF2-40B4-BE49-F238E27FC236}">
                <a16:creationId xmlns:a16="http://schemas.microsoft.com/office/drawing/2014/main" id="{A91CBA4F-05CC-4C64-9613-9CB848648AD4}"/>
              </a:ext>
            </a:extLst>
          </p:cNvPr>
          <p:cNvSpPr>
            <a:spLocks noGrp="1"/>
          </p:cNvSpPr>
          <p:nvPr/>
        </p:nvSpPr>
        <p:spPr>
          <a:xfrm>
            <a:off x="6327648" y="1874520"/>
            <a:ext cx="274320" cy="274320"/>
          </a:xfrm>
          <a:prstGeom prst="ellipse">
            <a:avLst/>
          </a:prstGeom>
          <a:solidFill>
            <a:srgbClr val="B8860B"/>
          </a:solidFill>
        </p:spPr>
        <p:txBody>
          <a:bodyPr/>
          <a:lstStyle/>
          <a:p>
            <a:endParaRPr/>
          </a:p>
        </p:txBody>
      </p:sp>
      <p:sp>
        <p:nvSpPr>
          <p:cNvPr id="6" name="Text 4">
            <a:extLst>
              <a:ext uri="{FF2B5EF4-FFF2-40B4-BE49-F238E27FC236}">
                <a16:creationId xmlns:a16="http://schemas.microsoft.com/office/drawing/2014/main" id="{16E379FD-09BE-401B-94C4-F56D22A450D1}"/>
              </a:ext>
            </a:extLst>
          </p:cNvPr>
          <p:cNvSpPr>
            <a:spLocks noGrp="1"/>
          </p:cNvSpPr>
          <p:nvPr/>
        </p:nvSpPr>
        <p:spPr>
          <a:xfrm>
            <a:off x="731520" y="2377440"/>
            <a:ext cx="10725912" cy="1097280"/>
          </a:xfrm>
          <a:prstGeom prst="rect">
            <a:avLst/>
          </a:prstGeom>
          <a:noFill/>
        </p:spPr>
        <p:txBody>
          <a:bodyPr wrap="square" lIns="0" tIns="0" rIns="0" bIns="0" anchor="ctr"/>
          <a:lstStyle/>
          <a:p>
            <a:pPr marL="0" indent="0" algn="ctr">
              <a:buNone/>
            </a:pPr>
            <a:r>
              <a:rPr sz="4400" b="1">
                <a:solidFill>
                  <a:srgbClr val="1A1A1A"/>
                </a:solidFill>
                <a:latin typeface="Calibri"/>
                <a:ea typeface="Calibri"/>
                <a:cs typeface="Calibri"/>
              </a:rPr>
              <a:t>Real Estate Price Prediction</a:t>
            </a:r>
            <a:endParaRPr sz="4400"/>
          </a:p>
        </p:txBody>
      </p:sp>
      <p:sp>
        <p:nvSpPr>
          <p:cNvPr id="7" name="Text 5">
            <a:extLst>
              <a:ext uri="{FF2B5EF4-FFF2-40B4-BE49-F238E27FC236}">
                <a16:creationId xmlns:a16="http://schemas.microsoft.com/office/drawing/2014/main" id="{149B47D5-F1F7-4125-9B45-D57C43597436}"/>
              </a:ext>
            </a:extLst>
          </p:cNvPr>
          <p:cNvSpPr>
            <a:spLocks noGrp="1"/>
          </p:cNvSpPr>
          <p:nvPr/>
        </p:nvSpPr>
        <p:spPr>
          <a:xfrm>
            <a:off x="1463040" y="3520440"/>
            <a:ext cx="9262872" cy="548640"/>
          </a:xfrm>
          <a:prstGeom prst="rect">
            <a:avLst/>
          </a:prstGeom>
          <a:noFill/>
        </p:spPr>
        <p:txBody>
          <a:bodyPr wrap="square" lIns="0" tIns="0" rIns="0" bIns="0" anchor="ctr"/>
          <a:lstStyle/>
          <a:p>
            <a:pPr marL="0" indent="0" algn="ctr">
              <a:buNone/>
            </a:pPr>
            <a:r>
              <a:rPr sz="1800" i="1">
                <a:solidFill>
                  <a:srgbClr val="666666"/>
                </a:solidFill>
                <a:latin typeface="Calibri"/>
                <a:ea typeface="Calibri"/>
                <a:cs typeface="Calibri"/>
              </a:rPr>
              <a:t>Can predictive modeling outperform simple valuation heuristics for home prices?</a:t>
            </a:r>
            <a:endParaRPr sz="1800"/>
          </a:p>
        </p:txBody>
      </p:sp>
      <p:sp>
        <p:nvSpPr>
          <p:cNvPr id="8" name="Text 6">
            <a:extLst>
              <a:ext uri="{FF2B5EF4-FFF2-40B4-BE49-F238E27FC236}">
                <a16:creationId xmlns:a16="http://schemas.microsoft.com/office/drawing/2014/main" id="{3F2D5E41-5A8D-4DEB-8D60-14D2807F5AFB}"/>
              </a:ext>
            </a:extLst>
          </p:cNvPr>
          <p:cNvSpPr>
            <a:spLocks noGrp="1"/>
          </p:cNvSpPr>
          <p:nvPr/>
        </p:nvSpPr>
        <p:spPr>
          <a:xfrm>
            <a:off x="1463040" y="4206240"/>
            <a:ext cx="9262872" cy="457200"/>
          </a:xfrm>
          <a:prstGeom prst="rect">
            <a:avLst/>
          </a:prstGeom>
          <a:noFill/>
        </p:spPr>
        <p:txBody>
          <a:bodyPr wrap="square" lIns="0" tIns="0" rIns="0" bIns="0" anchor="ctr"/>
          <a:lstStyle/>
          <a:p>
            <a:pPr marL="0" indent="0" algn="ctr">
              <a:buNone/>
            </a:pPr>
            <a:r>
              <a:rPr sz="1500">
                <a:solidFill>
                  <a:srgbClr val="1F6FA8"/>
                </a:solidFill>
                <a:latin typeface="Calibri"/>
                <a:ea typeface="Calibri"/>
                <a:cs typeface="Calibri"/>
              </a:rPr>
              <a:t>1,879 residential sales   ·   3 models compared   ·   Random Forest deployed</a:t>
            </a:r>
            <a:endParaRPr sz="1500"/>
          </a:p>
        </p:txBody>
      </p:sp>
      <p:sp>
        <p:nvSpPr>
          <p:cNvPr id="9" name="Text 7">
            <a:extLst>
              <a:ext uri="{FF2B5EF4-FFF2-40B4-BE49-F238E27FC236}">
                <a16:creationId xmlns:a16="http://schemas.microsoft.com/office/drawing/2014/main" id="{82D7BB41-B064-4D5A-A869-87997668CDBD}"/>
              </a:ext>
            </a:extLst>
          </p:cNvPr>
          <p:cNvSpPr>
            <a:spLocks noGrp="1"/>
          </p:cNvSpPr>
          <p:nvPr/>
        </p:nvSpPr>
        <p:spPr>
          <a:xfrm>
            <a:off x="1463040" y="6035040"/>
            <a:ext cx="9262872" cy="365760"/>
          </a:xfrm>
          <a:prstGeom prst="rect">
            <a:avLst/>
          </a:prstGeom>
          <a:noFill/>
        </p:spPr>
        <p:txBody>
          <a:bodyPr wrap="square" lIns="0" tIns="0" rIns="0" bIns="0" anchor="ctr"/>
          <a:lstStyle/>
          <a:p>
            <a:pPr marL="0" indent="0" algn="ctr">
              <a:buNone/>
            </a:pPr>
            <a:r>
              <a:rPr sz="1200">
                <a:solidFill>
                  <a:srgbClr val="666666"/>
                </a:solidFill>
                <a:latin typeface="Calibri"/>
                <a:ea typeface="Calibri"/>
                <a:cs typeface="Calibri"/>
              </a:rPr>
              <a:t>Python · pandas · scikit-learn · matplotlib · Streamlit</a:t>
            </a:r>
            <a:endParaRPr sz="1200"/>
          </a:p>
        </p:txBody>
      </p:sp>
      <p:sp>
        <p:nvSpPr>
          <p:cNvPr id="10" name="Text 7">
            <a:extLst>
              <a:ext uri="{FF2B5EF4-FFF2-40B4-BE49-F238E27FC236}">
                <a16:creationId xmlns:a16="http://schemas.microsoft.com/office/drawing/2014/main" id="{E0C872A1-E4E6-FCD9-A59D-9266E22B38DB}"/>
              </a:ext>
            </a:extLst>
          </p:cNvPr>
          <p:cNvSpPr>
            <a:spLocks noGrp="1"/>
          </p:cNvSpPr>
          <p:nvPr/>
        </p:nvSpPr>
        <p:spPr>
          <a:xfrm>
            <a:off x="1463040" y="4983480"/>
            <a:ext cx="9262872" cy="365760"/>
          </a:xfrm>
          <a:prstGeom prst="rect">
            <a:avLst/>
          </a:prstGeom>
          <a:noFill/>
        </p:spPr>
        <p:txBody>
          <a:bodyPr wrap="square" lIns="0" tIns="0" rIns="0" bIns="0" anchor="ctr"/>
          <a:lstStyle/>
          <a:p>
            <a:pPr marL="0" indent="0" algn="ctr">
              <a:buNone/>
            </a:pPr>
            <a:r>
              <a:rPr sz="1200">
                <a:solidFill>
                  <a:srgbClr val="666666"/>
                </a:solidFill>
                <a:latin typeface="Calibri"/>
                <a:ea typeface="Calibri"/>
                <a:cs typeface="Calibri"/>
              </a:rPr>
              <a:t>Donghwan Won | Dylan H. Won</a:t>
            </a:r>
            <a:endParaRPr sz="1200"/>
          </a:p>
        </p:txBody>
      </p:sp>
    </p:spTree>
    <p:extLst>
      <p:ext uri="{BB962C8B-B14F-4D97-AF65-F5344CB8AC3E}">
        <p14:creationId xmlns:p14="http://schemas.microsoft.com/office/powerpoint/2010/main" val="1801251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2549A2C-690E-4DC3-8061-1DDD9499192B}"/>
              </a:ext>
            </a:extLst>
          </p:cNvPr>
          <p:cNvSpPr>
            <a:spLocks noGrp="1"/>
          </p:cNvSpPr>
          <p:nvPr/>
        </p:nvSpPr>
        <p:spPr>
          <a:xfrm>
            <a:off x="548640" y="320040"/>
            <a:ext cx="10515600" cy="731520"/>
          </a:xfrm>
          <a:prstGeom prst="rect">
            <a:avLst/>
          </a:prstGeom>
          <a:noFill/>
        </p:spPr>
        <p:txBody>
          <a:bodyPr wrap="square" lIns="0" tIns="0" rIns="0" bIns="0" anchor="ctr"/>
          <a:lstStyle/>
          <a:p>
            <a:pPr marL="0" indent="0" algn="l">
              <a:buNone/>
            </a:pPr>
            <a:r>
              <a:rPr sz="3200" b="1">
                <a:solidFill>
                  <a:srgbClr val="1A1A1A"/>
                </a:solidFill>
                <a:latin typeface="Calibri"/>
                <a:ea typeface="Calibri"/>
                <a:cs typeface="Calibri"/>
              </a:rPr>
              <a:t>Summary</a:t>
            </a:r>
            <a:endParaRPr sz="3200"/>
          </a:p>
        </p:txBody>
      </p:sp>
      <p:sp>
        <p:nvSpPr>
          <p:cNvPr id="3" name="Shape 1">
            <a:extLst>
              <a:ext uri="{FF2B5EF4-FFF2-40B4-BE49-F238E27FC236}">
                <a16:creationId xmlns:a16="http://schemas.microsoft.com/office/drawing/2014/main" id="{7B9F5C1A-A498-4170-BA81-C278219B2100}"/>
              </a:ext>
            </a:extLst>
          </p:cNvPr>
          <p:cNvSpPr>
            <a:spLocks noGrp="1"/>
          </p:cNvSpPr>
          <p:nvPr/>
        </p:nvSpPr>
        <p:spPr>
          <a:xfrm>
            <a:off x="11292840" y="502920"/>
            <a:ext cx="128016" cy="128016"/>
          </a:xfrm>
          <a:prstGeom prst="ellipse">
            <a:avLst/>
          </a:prstGeom>
          <a:solidFill>
            <a:srgbClr val="1F6FA8"/>
          </a:solidFill>
        </p:spPr>
        <p:txBody>
          <a:bodyPr/>
          <a:lstStyle/>
          <a:p>
            <a:endParaRPr/>
          </a:p>
        </p:txBody>
      </p:sp>
      <p:sp>
        <p:nvSpPr>
          <p:cNvPr id="4" name="Shape 2">
            <a:extLst>
              <a:ext uri="{FF2B5EF4-FFF2-40B4-BE49-F238E27FC236}">
                <a16:creationId xmlns:a16="http://schemas.microsoft.com/office/drawing/2014/main" id="{D2CA89D7-8D90-44C1-AE67-F0C896E9D1E0}"/>
              </a:ext>
            </a:extLst>
          </p:cNvPr>
          <p:cNvSpPr>
            <a:spLocks noGrp="1"/>
          </p:cNvSpPr>
          <p:nvPr/>
        </p:nvSpPr>
        <p:spPr>
          <a:xfrm>
            <a:off x="11512296" y="502920"/>
            <a:ext cx="128016" cy="128016"/>
          </a:xfrm>
          <a:prstGeom prst="ellipse">
            <a:avLst/>
          </a:prstGeom>
          <a:solidFill>
            <a:srgbClr val="7C4DA8"/>
          </a:solidFill>
        </p:spPr>
        <p:txBody>
          <a:bodyPr/>
          <a:lstStyle/>
          <a:p>
            <a:endParaRPr/>
          </a:p>
        </p:txBody>
      </p:sp>
      <p:sp>
        <p:nvSpPr>
          <p:cNvPr id="5" name="Shape 3">
            <a:extLst>
              <a:ext uri="{FF2B5EF4-FFF2-40B4-BE49-F238E27FC236}">
                <a16:creationId xmlns:a16="http://schemas.microsoft.com/office/drawing/2014/main" id="{6E4884E4-DBEE-4D55-8ED9-549DDDB451B9}"/>
              </a:ext>
            </a:extLst>
          </p:cNvPr>
          <p:cNvSpPr>
            <a:spLocks noGrp="1"/>
          </p:cNvSpPr>
          <p:nvPr/>
        </p:nvSpPr>
        <p:spPr>
          <a:xfrm>
            <a:off x="11731752" y="502920"/>
            <a:ext cx="128016" cy="128016"/>
          </a:xfrm>
          <a:prstGeom prst="ellipse">
            <a:avLst/>
          </a:prstGeom>
          <a:solidFill>
            <a:srgbClr val="2E8B57"/>
          </a:solidFill>
        </p:spPr>
        <p:txBody>
          <a:bodyPr/>
          <a:lstStyle/>
          <a:p>
            <a:endParaRPr/>
          </a:p>
        </p:txBody>
      </p:sp>
      <p:sp>
        <p:nvSpPr>
          <p:cNvPr id="6" name="Shape 4">
            <a:extLst>
              <a:ext uri="{FF2B5EF4-FFF2-40B4-BE49-F238E27FC236}">
                <a16:creationId xmlns:a16="http://schemas.microsoft.com/office/drawing/2014/main" id="{4EE0F809-74ED-4B4D-88DD-788C549FBD33}"/>
              </a:ext>
            </a:extLst>
          </p:cNvPr>
          <p:cNvSpPr>
            <a:spLocks noGrp="1"/>
          </p:cNvSpPr>
          <p:nvPr/>
        </p:nvSpPr>
        <p:spPr>
          <a:xfrm>
            <a:off x="11951208" y="502920"/>
            <a:ext cx="128016" cy="128016"/>
          </a:xfrm>
          <a:prstGeom prst="ellipse">
            <a:avLst/>
          </a:prstGeom>
          <a:solidFill>
            <a:srgbClr val="B8860B"/>
          </a:solidFill>
        </p:spPr>
        <p:txBody>
          <a:bodyPr/>
          <a:lstStyle/>
          <a:p>
            <a:endParaRPr/>
          </a:p>
        </p:txBody>
      </p:sp>
      <p:sp>
        <p:nvSpPr>
          <p:cNvPr id="7" name="Shape 5">
            <a:extLst>
              <a:ext uri="{FF2B5EF4-FFF2-40B4-BE49-F238E27FC236}">
                <a16:creationId xmlns:a16="http://schemas.microsoft.com/office/drawing/2014/main" id="{830BF751-FAD8-4619-AF39-F65C5CD13020}"/>
              </a:ext>
            </a:extLst>
          </p:cNvPr>
          <p:cNvSpPr>
            <a:spLocks noGrp="1"/>
          </p:cNvSpPr>
          <p:nvPr/>
        </p:nvSpPr>
        <p:spPr>
          <a:xfrm>
            <a:off x="548640" y="1371600"/>
            <a:ext cx="5440680" cy="2331720"/>
          </a:xfrm>
          <a:prstGeom prst="roundRect">
            <a:avLst>
              <a:gd name="adj" fmla="val 3137"/>
            </a:avLst>
          </a:prstGeom>
          <a:solidFill>
            <a:srgbClr val="EAF4FB"/>
          </a:solidFill>
          <a:ln w="19050">
            <a:solidFill>
              <a:srgbClr val="8EC9F0"/>
            </a:solidFill>
            <a:prstDash val="solid"/>
          </a:ln>
        </p:spPr>
        <p:txBody>
          <a:bodyPr/>
          <a:lstStyle/>
          <a:p>
            <a:endParaRPr/>
          </a:p>
        </p:txBody>
      </p:sp>
      <p:sp>
        <p:nvSpPr>
          <p:cNvPr id="8" name="Text 6">
            <a:extLst>
              <a:ext uri="{FF2B5EF4-FFF2-40B4-BE49-F238E27FC236}">
                <a16:creationId xmlns:a16="http://schemas.microsoft.com/office/drawing/2014/main" id="{63DCB6B9-A7FF-4E65-A028-7BF2B46E9040}"/>
              </a:ext>
            </a:extLst>
          </p:cNvPr>
          <p:cNvSpPr>
            <a:spLocks noGrp="1"/>
          </p:cNvSpPr>
          <p:nvPr/>
        </p:nvSpPr>
        <p:spPr>
          <a:xfrm>
            <a:off x="777240" y="1536192"/>
            <a:ext cx="548640" cy="502920"/>
          </a:xfrm>
          <a:prstGeom prst="rect">
            <a:avLst/>
          </a:prstGeom>
          <a:noFill/>
        </p:spPr>
        <p:txBody>
          <a:bodyPr wrap="square" lIns="0" tIns="0" rIns="0" bIns="0" anchor="ctr"/>
          <a:lstStyle/>
          <a:p>
            <a:pPr marL="0" indent="0">
              <a:buNone/>
            </a:pPr>
            <a:r>
              <a:rPr sz="2600" b="1">
                <a:solidFill>
                  <a:srgbClr val="1F6FA8"/>
                </a:solidFill>
                <a:latin typeface="Calibri"/>
                <a:ea typeface="Calibri"/>
                <a:cs typeface="Calibri"/>
              </a:rPr>
              <a:t>1</a:t>
            </a:r>
            <a:endParaRPr sz="2600"/>
          </a:p>
        </p:txBody>
      </p:sp>
      <p:sp>
        <p:nvSpPr>
          <p:cNvPr id="9" name="Text 7">
            <a:extLst>
              <a:ext uri="{FF2B5EF4-FFF2-40B4-BE49-F238E27FC236}">
                <a16:creationId xmlns:a16="http://schemas.microsoft.com/office/drawing/2014/main" id="{B3BD3DB3-EF41-41B2-A9CB-A4720099359A}"/>
              </a:ext>
            </a:extLst>
          </p:cNvPr>
          <p:cNvSpPr>
            <a:spLocks noGrp="1"/>
          </p:cNvSpPr>
          <p:nvPr/>
        </p:nvSpPr>
        <p:spPr>
          <a:xfrm>
            <a:off x="1325880" y="1591056"/>
            <a:ext cx="4434840" cy="457200"/>
          </a:xfrm>
          <a:prstGeom prst="rect">
            <a:avLst/>
          </a:prstGeom>
          <a:noFill/>
        </p:spPr>
        <p:txBody>
          <a:bodyPr wrap="square" lIns="0" tIns="0" rIns="0" bIns="0" anchor="ctr"/>
          <a:lstStyle/>
          <a:p>
            <a:pPr marL="0" indent="0">
              <a:buNone/>
            </a:pPr>
            <a:r>
              <a:rPr sz="1900" b="1">
                <a:solidFill>
                  <a:srgbClr val="1A1A1A"/>
                </a:solidFill>
                <a:latin typeface="Calibri"/>
                <a:ea typeface="Calibri"/>
                <a:cs typeface="Calibri"/>
              </a:rPr>
              <a:t>Business needs</a:t>
            </a:r>
            <a:endParaRPr sz="1900"/>
          </a:p>
        </p:txBody>
      </p:sp>
      <p:sp>
        <p:nvSpPr>
          <p:cNvPr id="10" name="Text 8">
            <a:extLst>
              <a:ext uri="{FF2B5EF4-FFF2-40B4-BE49-F238E27FC236}">
                <a16:creationId xmlns:a16="http://schemas.microsoft.com/office/drawing/2014/main" id="{6A22C7BB-C128-4702-A056-87E7F5691EB7}"/>
              </a:ext>
            </a:extLst>
          </p:cNvPr>
          <p:cNvSpPr>
            <a:spLocks noGrp="1"/>
          </p:cNvSpPr>
          <p:nvPr/>
        </p:nvSpPr>
        <p:spPr>
          <a:xfrm>
            <a:off x="868680" y="2121408"/>
            <a:ext cx="4800600" cy="1417320"/>
          </a:xfrm>
          <a:prstGeom prst="rect">
            <a:avLst/>
          </a:prstGeom>
          <a:noFill/>
        </p:spPr>
        <p:txBody>
          <a:bodyPr wrap="square" lIns="0" tIns="0" rIns="0" bIns="0" anchor="t"/>
          <a:lstStyle/>
          <a:p>
            <a:pPr marL="342900" indent="-342900">
              <a:spcAft>
                <a:spcPts val="600"/>
              </a:spcAft>
              <a:buSzPct val="100000"/>
              <a:buChar char="•"/>
            </a:pPr>
            <a:r>
              <a:rPr sz="1400">
                <a:solidFill>
                  <a:srgbClr val="1A1A1A"/>
                </a:solidFill>
                <a:latin typeface="Calibri"/>
                <a:ea typeface="Calibri"/>
                <a:cs typeface="Calibri"/>
              </a:rPr>
              <a:t>Can predictive modeling outperform simple valuation heuristics for home prices?</a:t>
            </a:r>
            <a:endParaRPr sz="1400"/>
          </a:p>
        </p:txBody>
      </p:sp>
      <p:sp>
        <p:nvSpPr>
          <p:cNvPr id="11" name="Shape 9">
            <a:extLst>
              <a:ext uri="{FF2B5EF4-FFF2-40B4-BE49-F238E27FC236}">
                <a16:creationId xmlns:a16="http://schemas.microsoft.com/office/drawing/2014/main" id="{642C241D-6D56-4B29-BC0B-652351F17DE7}"/>
              </a:ext>
            </a:extLst>
          </p:cNvPr>
          <p:cNvSpPr>
            <a:spLocks noGrp="1"/>
          </p:cNvSpPr>
          <p:nvPr/>
        </p:nvSpPr>
        <p:spPr>
          <a:xfrm>
            <a:off x="6309360" y="1371600"/>
            <a:ext cx="5440680" cy="2331720"/>
          </a:xfrm>
          <a:prstGeom prst="roundRect">
            <a:avLst>
              <a:gd name="adj" fmla="val 3137"/>
            </a:avLst>
          </a:prstGeom>
          <a:solidFill>
            <a:srgbClr val="F4EDFA"/>
          </a:solidFill>
          <a:ln w="19050">
            <a:solidFill>
              <a:srgbClr val="C9A6E8"/>
            </a:solidFill>
            <a:prstDash val="solid"/>
          </a:ln>
        </p:spPr>
        <p:txBody>
          <a:bodyPr/>
          <a:lstStyle/>
          <a:p>
            <a:endParaRPr/>
          </a:p>
        </p:txBody>
      </p:sp>
      <p:sp>
        <p:nvSpPr>
          <p:cNvPr id="12" name="Text 10">
            <a:extLst>
              <a:ext uri="{FF2B5EF4-FFF2-40B4-BE49-F238E27FC236}">
                <a16:creationId xmlns:a16="http://schemas.microsoft.com/office/drawing/2014/main" id="{29DD8E20-AAB4-455E-95DA-B1B830A1F1BF}"/>
              </a:ext>
            </a:extLst>
          </p:cNvPr>
          <p:cNvSpPr>
            <a:spLocks noGrp="1"/>
          </p:cNvSpPr>
          <p:nvPr/>
        </p:nvSpPr>
        <p:spPr>
          <a:xfrm>
            <a:off x="6537960" y="1536192"/>
            <a:ext cx="548640" cy="502920"/>
          </a:xfrm>
          <a:prstGeom prst="rect">
            <a:avLst/>
          </a:prstGeom>
          <a:noFill/>
        </p:spPr>
        <p:txBody>
          <a:bodyPr wrap="square" lIns="0" tIns="0" rIns="0" bIns="0" anchor="ctr"/>
          <a:lstStyle/>
          <a:p>
            <a:pPr marL="0" indent="0">
              <a:buNone/>
            </a:pPr>
            <a:r>
              <a:rPr sz="2600" b="1">
                <a:solidFill>
                  <a:srgbClr val="7C4DA8"/>
                </a:solidFill>
                <a:latin typeface="Calibri"/>
                <a:ea typeface="Calibri"/>
                <a:cs typeface="Calibri"/>
              </a:rPr>
              <a:t>2</a:t>
            </a:r>
            <a:endParaRPr sz="2600"/>
          </a:p>
        </p:txBody>
      </p:sp>
      <p:sp>
        <p:nvSpPr>
          <p:cNvPr id="13" name="Text 11">
            <a:extLst>
              <a:ext uri="{FF2B5EF4-FFF2-40B4-BE49-F238E27FC236}">
                <a16:creationId xmlns:a16="http://schemas.microsoft.com/office/drawing/2014/main" id="{1101D947-6B34-48A1-9A72-4035968695BD}"/>
              </a:ext>
            </a:extLst>
          </p:cNvPr>
          <p:cNvSpPr>
            <a:spLocks noGrp="1"/>
          </p:cNvSpPr>
          <p:nvPr/>
        </p:nvSpPr>
        <p:spPr>
          <a:xfrm>
            <a:off x="7086600" y="1591056"/>
            <a:ext cx="4434840" cy="457200"/>
          </a:xfrm>
          <a:prstGeom prst="rect">
            <a:avLst/>
          </a:prstGeom>
          <a:noFill/>
        </p:spPr>
        <p:txBody>
          <a:bodyPr wrap="square" lIns="0" tIns="0" rIns="0" bIns="0" anchor="ctr"/>
          <a:lstStyle/>
          <a:p>
            <a:pPr marL="0" indent="0">
              <a:buNone/>
            </a:pPr>
            <a:r>
              <a:rPr sz="1900" b="1">
                <a:solidFill>
                  <a:srgbClr val="1A1A1A"/>
                </a:solidFill>
                <a:latin typeface="Calibri"/>
                <a:ea typeface="Calibri"/>
                <a:cs typeface="Calibri"/>
              </a:rPr>
              <a:t>Data engineering</a:t>
            </a:r>
            <a:endParaRPr sz="1900"/>
          </a:p>
        </p:txBody>
      </p:sp>
      <p:sp>
        <p:nvSpPr>
          <p:cNvPr id="14" name="Text 12">
            <a:extLst>
              <a:ext uri="{FF2B5EF4-FFF2-40B4-BE49-F238E27FC236}">
                <a16:creationId xmlns:a16="http://schemas.microsoft.com/office/drawing/2014/main" id="{EBEEF40E-82BB-4874-ACF3-C540773BF64B}"/>
              </a:ext>
            </a:extLst>
          </p:cNvPr>
          <p:cNvSpPr>
            <a:spLocks noGrp="1"/>
          </p:cNvSpPr>
          <p:nvPr/>
        </p:nvSpPr>
        <p:spPr>
          <a:xfrm>
            <a:off x="6629400" y="2121408"/>
            <a:ext cx="4800600" cy="1417320"/>
          </a:xfrm>
          <a:prstGeom prst="rect">
            <a:avLst/>
          </a:prstGeom>
          <a:noFill/>
        </p:spPr>
        <p:txBody>
          <a:bodyPr wrap="square" lIns="0" tIns="0" rIns="0" bIns="0" anchor="t"/>
          <a:lstStyle/>
          <a:p>
            <a:pPr marL="342900" indent="-342900">
              <a:spcAft>
                <a:spcPts val="600"/>
              </a:spcAft>
              <a:buSzPct val="100000"/>
              <a:buChar char="•"/>
            </a:pPr>
            <a:r>
              <a:rPr sz="1400">
                <a:solidFill>
                  <a:srgbClr val="1A1A1A"/>
                </a:solidFill>
                <a:latin typeface="Calibri"/>
                <a:ea typeface="Calibri"/>
                <a:cs typeface="Calibri"/>
              </a:rPr>
              <a:t>1,879 residential sales, 11 fields; no missing values</a:t>
            </a:r>
            <a:endParaRPr sz="1400"/>
          </a:p>
          <a:p>
            <a:pPr marL="342900" indent="-342900">
              <a:spcAft>
                <a:spcPts val="600"/>
              </a:spcAft>
              <a:buSzPct val="100000"/>
              <a:buChar char="•"/>
            </a:pPr>
            <a:r>
              <a:rPr sz="1400">
                <a:solidFill>
                  <a:srgbClr val="1A1A1A"/>
                </a:solidFill>
                <a:latin typeface="Calibri"/>
                <a:ea typeface="Calibri"/>
                <a:cs typeface="Calibri"/>
              </a:rPr>
              <a:t>property_type one-hot encoded → 11 model features</a:t>
            </a:r>
            <a:endParaRPr sz="1400"/>
          </a:p>
          <a:p>
            <a:pPr marL="342900" indent="-342900">
              <a:spcAft>
                <a:spcPts val="600"/>
              </a:spcAft>
              <a:buSzPct val="100000"/>
              <a:buChar char="•"/>
            </a:pPr>
            <a:r>
              <a:rPr sz="1400">
                <a:solidFill>
                  <a:srgbClr val="1A1A1A"/>
                </a:solidFill>
                <a:latin typeface="Calibri"/>
                <a:ea typeface="Calibri"/>
                <a:cs typeface="Calibri"/>
              </a:rPr>
              <a:t>80/20 stratified train/test split (random_state = 42)</a:t>
            </a:r>
            <a:endParaRPr sz="1400"/>
          </a:p>
        </p:txBody>
      </p:sp>
      <p:sp>
        <p:nvSpPr>
          <p:cNvPr id="15" name="Shape 13">
            <a:extLst>
              <a:ext uri="{FF2B5EF4-FFF2-40B4-BE49-F238E27FC236}">
                <a16:creationId xmlns:a16="http://schemas.microsoft.com/office/drawing/2014/main" id="{12A148B0-3C51-4A73-AD41-EA80A5E1492B}"/>
              </a:ext>
            </a:extLst>
          </p:cNvPr>
          <p:cNvSpPr>
            <a:spLocks noGrp="1"/>
          </p:cNvSpPr>
          <p:nvPr/>
        </p:nvSpPr>
        <p:spPr>
          <a:xfrm>
            <a:off x="548640" y="4023360"/>
            <a:ext cx="5440680" cy="2331720"/>
          </a:xfrm>
          <a:prstGeom prst="roundRect">
            <a:avLst>
              <a:gd name="adj" fmla="val 3137"/>
            </a:avLst>
          </a:prstGeom>
          <a:solidFill>
            <a:srgbClr val="EBF7EA"/>
          </a:solidFill>
          <a:ln w="19050">
            <a:solidFill>
              <a:srgbClr val="A8E6A3"/>
            </a:solidFill>
            <a:prstDash val="solid"/>
          </a:ln>
        </p:spPr>
        <p:txBody>
          <a:bodyPr/>
          <a:lstStyle/>
          <a:p>
            <a:endParaRPr/>
          </a:p>
        </p:txBody>
      </p:sp>
      <p:sp>
        <p:nvSpPr>
          <p:cNvPr id="16" name="Text 14">
            <a:extLst>
              <a:ext uri="{FF2B5EF4-FFF2-40B4-BE49-F238E27FC236}">
                <a16:creationId xmlns:a16="http://schemas.microsoft.com/office/drawing/2014/main" id="{02CDC890-54DB-4324-BC9C-D4C4CAF2B0BC}"/>
              </a:ext>
            </a:extLst>
          </p:cNvPr>
          <p:cNvSpPr>
            <a:spLocks noGrp="1"/>
          </p:cNvSpPr>
          <p:nvPr/>
        </p:nvSpPr>
        <p:spPr>
          <a:xfrm>
            <a:off x="777240" y="4187952"/>
            <a:ext cx="548640" cy="502920"/>
          </a:xfrm>
          <a:prstGeom prst="rect">
            <a:avLst/>
          </a:prstGeom>
          <a:noFill/>
        </p:spPr>
        <p:txBody>
          <a:bodyPr wrap="square" lIns="0" tIns="0" rIns="0" bIns="0" anchor="ctr"/>
          <a:lstStyle/>
          <a:p>
            <a:pPr marL="0" indent="0">
              <a:buNone/>
            </a:pPr>
            <a:r>
              <a:rPr sz="2600" b="1">
                <a:solidFill>
                  <a:srgbClr val="2E8B57"/>
                </a:solidFill>
                <a:latin typeface="Calibri"/>
                <a:ea typeface="Calibri"/>
                <a:cs typeface="Calibri"/>
              </a:rPr>
              <a:t>3</a:t>
            </a:r>
            <a:endParaRPr sz="2600"/>
          </a:p>
        </p:txBody>
      </p:sp>
      <p:sp>
        <p:nvSpPr>
          <p:cNvPr id="17" name="Text 15">
            <a:extLst>
              <a:ext uri="{FF2B5EF4-FFF2-40B4-BE49-F238E27FC236}">
                <a16:creationId xmlns:a16="http://schemas.microsoft.com/office/drawing/2014/main" id="{871A55AD-220A-46C3-A7FD-DB03FB1D1C55}"/>
              </a:ext>
            </a:extLst>
          </p:cNvPr>
          <p:cNvSpPr>
            <a:spLocks noGrp="1"/>
          </p:cNvSpPr>
          <p:nvPr/>
        </p:nvSpPr>
        <p:spPr>
          <a:xfrm>
            <a:off x="1325880" y="4242816"/>
            <a:ext cx="4434840" cy="457200"/>
          </a:xfrm>
          <a:prstGeom prst="rect">
            <a:avLst/>
          </a:prstGeom>
          <a:noFill/>
        </p:spPr>
        <p:txBody>
          <a:bodyPr wrap="square" lIns="0" tIns="0" rIns="0" bIns="0" anchor="ctr"/>
          <a:lstStyle/>
          <a:p>
            <a:pPr marL="0" indent="0">
              <a:buNone/>
            </a:pPr>
            <a:r>
              <a:rPr sz="1900" b="1">
                <a:solidFill>
                  <a:srgbClr val="1A1A1A"/>
                </a:solidFill>
                <a:latin typeface="Calibri"/>
                <a:ea typeface="Calibri"/>
                <a:cs typeface="Calibri"/>
              </a:rPr>
              <a:t>Machine learning model</a:t>
            </a:r>
            <a:endParaRPr sz="1900"/>
          </a:p>
        </p:txBody>
      </p:sp>
      <p:sp>
        <p:nvSpPr>
          <p:cNvPr id="18" name="Text 16">
            <a:extLst>
              <a:ext uri="{FF2B5EF4-FFF2-40B4-BE49-F238E27FC236}">
                <a16:creationId xmlns:a16="http://schemas.microsoft.com/office/drawing/2014/main" id="{7B8DD977-9BAF-4F67-9134-B502EABC73F1}"/>
              </a:ext>
            </a:extLst>
          </p:cNvPr>
          <p:cNvSpPr>
            <a:spLocks noGrp="1"/>
          </p:cNvSpPr>
          <p:nvPr/>
        </p:nvSpPr>
        <p:spPr>
          <a:xfrm>
            <a:off x="868680" y="4773168"/>
            <a:ext cx="4800600" cy="1417320"/>
          </a:xfrm>
          <a:prstGeom prst="rect">
            <a:avLst/>
          </a:prstGeom>
          <a:noFill/>
        </p:spPr>
        <p:txBody>
          <a:bodyPr wrap="square" lIns="0" tIns="0" rIns="0" bIns="0" anchor="t"/>
          <a:lstStyle/>
          <a:p>
            <a:pPr marL="342900" indent="-342900">
              <a:spcAft>
                <a:spcPts val="600"/>
              </a:spcAft>
              <a:buSzPct val="100000"/>
              <a:buChar char="•"/>
            </a:pPr>
            <a:r>
              <a:rPr sz="1400">
                <a:solidFill>
                  <a:srgbClr val="1A1A1A"/>
                </a:solidFill>
                <a:latin typeface="Calibri"/>
                <a:ea typeface="Calibri"/>
                <a:cs typeface="Calibri"/>
              </a:rPr>
              <a:t>Compared 3 kinds of regression models: Linear Regression, Random Forest, Gradient Boosting</a:t>
            </a:r>
            <a:endParaRPr sz="1400"/>
          </a:p>
          <a:p>
            <a:pPr marL="342900" indent="-342900">
              <a:spcAft>
                <a:spcPts val="600"/>
              </a:spcAft>
              <a:buSzPct val="100000"/>
              <a:buChar char="•"/>
            </a:pPr>
            <a:r>
              <a:rPr sz="1400">
                <a:solidFill>
                  <a:srgbClr val="1A1A1A"/>
                </a:solidFill>
                <a:latin typeface="Calibri"/>
                <a:ea typeface="Calibri"/>
                <a:cs typeface="Calibri"/>
              </a:rPr>
              <a:t>Random Forest is the best one on test: MAE $43,795 · R² 0.834</a:t>
            </a:r>
            <a:endParaRPr sz="1400"/>
          </a:p>
        </p:txBody>
      </p:sp>
      <p:sp>
        <p:nvSpPr>
          <p:cNvPr id="19" name="Shape 17">
            <a:extLst>
              <a:ext uri="{FF2B5EF4-FFF2-40B4-BE49-F238E27FC236}">
                <a16:creationId xmlns:a16="http://schemas.microsoft.com/office/drawing/2014/main" id="{848C2D7A-07E8-45B8-930E-584AAFAB602D}"/>
              </a:ext>
            </a:extLst>
          </p:cNvPr>
          <p:cNvSpPr>
            <a:spLocks noGrp="1"/>
          </p:cNvSpPr>
          <p:nvPr/>
        </p:nvSpPr>
        <p:spPr>
          <a:xfrm>
            <a:off x="6309360" y="4023360"/>
            <a:ext cx="5440680" cy="2331720"/>
          </a:xfrm>
          <a:prstGeom prst="roundRect">
            <a:avLst>
              <a:gd name="adj" fmla="val 3137"/>
            </a:avLst>
          </a:prstGeom>
          <a:solidFill>
            <a:srgbClr val="FDF8E2"/>
          </a:solidFill>
          <a:ln w="19050">
            <a:solidFill>
              <a:srgbClr val="FFF09E"/>
            </a:solidFill>
            <a:prstDash val="solid"/>
          </a:ln>
        </p:spPr>
        <p:txBody>
          <a:bodyPr/>
          <a:lstStyle/>
          <a:p>
            <a:endParaRPr/>
          </a:p>
        </p:txBody>
      </p:sp>
      <p:sp>
        <p:nvSpPr>
          <p:cNvPr id="20" name="Text 18">
            <a:extLst>
              <a:ext uri="{FF2B5EF4-FFF2-40B4-BE49-F238E27FC236}">
                <a16:creationId xmlns:a16="http://schemas.microsoft.com/office/drawing/2014/main" id="{C85EDA87-4543-4DE3-9FC9-CF56889AB4AF}"/>
              </a:ext>
            </a:extLst>
          </p:cNvPr>
          <p:cNvSpPr>
            <a:spLocks noGrp="1"/>
          </p:cNvSpPr>
          <p:nvPr/>
        </p:nvSpPr>
        <p:spPr>
          <a:xfrm>
            <a:off x="6537960" y="4187952"/>
            <a:ext cx="548640" cy="502920"/>
          </a:xfrm>
          <a:prstGeom prst="rect">
            <a:avLst/>
          </a:prstGeom>
          <a:noFill/>
        </p:spPr>
        <p:txBody>
          <a:bodyPr wrap="square" lIns="0" tIns="0" rIns="0" bIns="0" anchor="ctr"/>
          <a:lstStyle/>
          <a:p>
            <a:pPr marL="0" indent="0">
              <a:buNone/>
            </a:pPr>
            <a:r>
              <a:rPr sz="2600" b="1">
                <a:solidFill>
                  <a:srgbClr val="B8860B"/>
                </a:solidFill>
                <a:latin typeface="Calibri"/>
                <a:ea typeface="Calibri"/>
                <a:cs typeface="Calibri"/>
              </a:rPr>
              <a:t>4</a:t>
            </a:r>
            <a:endParaRPr sz="2600"/>
          </a:p>
        </p:txBody>
      </p:sp>
      <p:sp>
        <p:nvSpPr>
          <p:cNvPr id="21" name="Text 19">
            <a:extLst>
              <a:ext uri="{FF2B5EF4-FFF2-40B4-BE49-F238E27FC236}">
                <a16:creationId xmlns:a16="http://schemas.microsoft.com/office/drawing/2014/main" id="{409158F5-5E0A-44E7-88F2-F3C44498B7B0}"/>
              </a:ext>
            </a:extLst>
          </p:cNvPr>
          <p:cNvSpPr>
            <a:spLocks noGrp="1"/>
          </p:cNvSpPr>
          <p:nvPr/>
        </p:nvSpPr>
        <p:spPr>
          <a:xfrm>
            <a:off x="7086600" y="4242816"/>
            <a:ext cx="4434840" cy="457200"/>
          </a:xfrm>
          <a:prstGeom prst="rect">
            <a:avLst/>
          </a:prstGeom>
          <a:noFill/>
        </p:spPr>
        <p:txBody>
          <a:bodyPr wrap="square" lIns="0" tIns="0" rIns="0" bIns="0" anchor="ctr"/>
          <a:lstStyle/>
          <a:p>
            <a:pPr marL="0" indent="0">
              <a:buNone/>
            </a:pPr>
            <a:r>
              <a:rPr sz="1900" b="1">
                <a:solidFill>
                  <a:srgbClr val="1A1A1A"/>
                </a:solidFill>
                <a:latin typeface="Calibri"/>
                <a:ea typeface="Calibri"/>
                <a:cs typeface="Calibri"/>
              </a:rPr>
              <a:t>BI intelligence</a:t>
            </a:r>
            <a:endParaRPr sz="1900"/>
          </a:p>
        </p:txBody>
      </p:sp>
      <p:sp>
        <p:nvSpPr>
          <p:cNvPr id="22" name="Text 20">
            <a:extLst>
              <a:ext uri="{FF2B5EF4-FFF2-40B4-BE49-F238E27FC236}">
                <a16:creationId xmlns:a16="http://schemas.microsoft.com/office/drawing/2014/main" id="{D71B2B48-97C9-4C3B-B86C-318AB690EC8F}"/>
              </a:ext>
            </a:extLst>
          </p:cNvPr>
          <p:cNvSpPr>
            <a:spLocks noGrp="1"/>
          </p:cNvSpPr>
          <p:nvPr/>
        </p:nvSpPr>
        <p:spPr>
          <a:xfrm>
            <a:off x="6629400" y="4773168"/>
            <a:ext cx="4800600" cy="1417320"/>
          </a:xfrm>
          <a:prstGeom prst="rect">
            <a:avLst/>
          </a:prstGeom>
          <a:noFill/>
        </p:spPr>
        <p:txBody>
          <a:bodyPr wrap="square" lIns="0" tIns="0" rIns="0" bIns="0" anchor="t"/>
          <a:lstStyle/>
          <a:p>
            <a:pPr marL="342900" indent="-342900">
              <a:spcAft>
                <a:spcPts val="600"/>
              </a:spcAft>
              <a:buSzPct val="100000"/>
              <a:buChar char="•"/>
            </a:pPr>
            <a:r>
              <a:rPr sz="1400">
                <a:solidFill>
                  <a:srgbClr val="1A1A1A"/>
                </a:solidFill>
                <a:latin typeface="Calibri"/>
                <a:ea typeface="Calibri"/>
                <a:cs typeface="Calibri"/>
              </a:rPr>
              <a:t>Deploy Random Forest for valuation support; flag large model-vs-actual gaps</a:t>
            </a:r>
          </a:p>
          <a:p>
            <a:pPr marL="342900" indent="-342900">
              <a:spcAft>
                <a:spcPts val="600"/>
              </a:spcAft>
              <a:buSzPct val="100000"/>
              <a:buFontTx/>
              <a:buChar char="•"/>
            </a:pPr>
            <a:r>
              <a:rPr sz="1400"/>
              <a:t>Regardless of bungalow or condo type, insurance, year sold, and property tax are the top drivers, indicating that carrying costs and market timing dominate.</a:t>
            </a:r>
          </a:p>
          <a:p>
            <a:pPr>
              <a:spcAft>
                <a:spcPts val="600"/>
              </a:spcAft>
              <a:buSzPct val="100000"/>
              <a:buNone/>
            </a:pPr>
            <a:endParaRPr sz="1400">
              <a:solidFill>
                <a:srgbClr val="1A1A1A"/>
              </a:solidFill>
              <a:latin typeface="Calibri"/>
              <a:ea typeface="Calibri"/>
              <a:cs typeface="Calibri"/>
            </a:endParaRPr>
          </a:p>
          <a:p>
            <a:pPr marL="342900" indent="-342900">
              <a:spcAft>
                <a:spcPts val="600"/>
              </a:spcAft>
              <a:buSzPct val="100000"/>
              <a:buChar char="•"/>
            </a:pPr>
            <a:endParaRPr sz="1400"/>
          </a:p>
        </p:txBody>
      </p:sp>
    </p:spTree>
    <p:extLst>
      <p:ext uri="{BB962C8B-B14F-4D97-AF65-F5344CB8AC3E}">
        <p14:creationId xmlns:p14="http://schemas.microsoft.com/office/powerpoint/2010/main" val="37275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CCB2EF4-45B9-402F-912D-11CBAB755744}"/>
              </a:ext>
            </a:extLst>
          </p:cNvPr>
          <p:cNvSpPr>
            <a:spLocks noGrp="1"/>
          </p:cNvSpPr>
          <p:nvPr/>
        </p:nvSpPr>
        <p:spPr>
          <a:xfrm>
            <a:off x="548640" y="320040"/>
            <a:ext cx="10515600" cy="731520"/>
          </a:xfrm>
          <a:prstGeom prst="rect">
            <a:avLst/>
          </a:prstGeom>
          <a:noFill/>
        </p:spPr>
        <p:txBody>
          <a:bodyPr wrap="square" lIns="0" tIns="0" rIns="0" bIns="0" anchor="ctr"/>
          <a:lstStyle/>
          <a:p>
            <a:pPr marL="0" indent="0" algn="l">
              <a:buNone/>
            </a:pPr>
            <a:r>
              <a:rPr sz="3200" b="1">
                <a:solidFill>
                  <a:srgbClr val="1A1A1A"/>
                </a:solidFill>
                <a:latin typeface="Calibri"/>
                <a:ea typeface="Calibri"/>
                <a:cs typeface="Calibri"/>
              </a:rPr>
              <a:t>Business needs</a:t>
            </a:r>
            <a:endParaRPr sz="3200"/>
          </a:p>
        </p:txBody>
      </p:sp>
      <p:sp>
        <p:nvSpPr>
          <p:cNvPr id="3" name="Shape 1">
            <a:extLst>
              <a:ext uri="{FF2B5EF4-FFF2-40B4-BE49-F238E27FC236}">
                <a16:creationId xmlns:a16="http://schemas.microsoft.com/office/drawing/2014/main" id="{06385B2A-E692-4927-83C0-593E8410C4CE}"/>
              </a:ext>
            </a:extLst>
          </p:cNvPr>
          <p:cNvSpPr>
            <a:spLocks noGrp="1"/>
          </p:cNvSpPr>
          <p:nvPr/>
        </p:nvSpPr>
        <p:spPr>
          <a:xfrm>
            <a:off x="11292840" y="502920"/>
            <a:ext cx="128016" cy="128016"/>
          </a:xfrm>
          <a:prstGeom prst="ellipse">
            <a:avLst/>
          </a:prstGeom>
          <a:solidFill>
            <a:srgbClr val="1F6FA8"/>
          </a:solidFill>
        </p:spPr>
        <p:txBody>
          <a:bodyPr/>
          <a:lstStyle/>
          <a:p>
            <a:endParaRPr/>
          </a:p>
        </p:txBody>
      </p:sp>
      <p:sp>
        <p:nvSpPr>
          <p:cNvPr id="4" name="Shape 2">
            <a:extLst>
              <a:ext uri="{FF2B5EF4-FFF2-40B4-BE49-F238E27FC236}">
                <a16:creationId xmlns:a16="http://schemas.microsoft.com/office/drawing/2014/main" id="{0344DD52-BB1E-465C-AC32-24D357D3551B}"/>
              </a:ext>
            </a:extLst>
          </p:cNvPr>
          <p:cNvSpPr>
            <a:spLocks noGrp="1"/>
          </p:cNvSpPr>
          <p:nvPr/>
        </p:nvSpPr>
        <p:spPr>
          <a:xfrm>
            <a:off x="11512296" y="502920"/>
            <a:ext cx="128016" cy="128016"/>
          </a:xfrm>
          <a:prstGeom prst="ellipse">
            <a:avLst/>
          </a:prstGeom>
          <a:solidFill>
            <a:srgbClr val="7C4DA8"/>
          </a:solidFill>
        </p:spPr>
        <p:txBody>
          <a:bodyPr/>
          <a:lstStyle/>
          <a:p>
            <a:endParaRPr/>
          </a:p>
        </p:txBody>
      </p:sp>
      <p:sp>
        <p:nvSpPr>
          <p:cNvPr id="5" name="Shape 3">
            <a:extLst>
              <a:ext uri="{FF2B5EF4-FFF2-40B4-BE49-F238E27FC236}">
                <a16:creationId xmlns:a16="http://schemas.microsoft.com/office/drawing/2014/main" id="{1BF5B127-FA64-4A2E-9379-CDD48C8EC75B}"/>
              </a:ext>
            </a:extLst>
          </p:cNvPr>
          <p:cNvSpPr>
            <a:spLocks noGrp="1"/>
          </p:cNvSpPr>
          <p:nvPr/>
        </p:nvSpPr>
        <p:spPr>
          <a:xfrm>
            <a:off x="11731752" y="502920"/>
            <a:ext cx="128016" cy="128016"/>
          </a:xfrm>
          <a:prstGeom prst="ellipse">
            <a:avLst/>
          </a:prstGeom>
          <a:solidFill>
            <a:srgbClr val="2E8B57"/>
          </a:solidFill>
        </p:spPr>
        <p:txBody>
          <a:bodyPr/>
          <a:lstStyle/>
          <a:p>
            <a:endParaRPr/>
          </a:p>
        </p:txBody>
      </p:sp>
      <p:sp>
        <p:nvSpPr>
          <p:cNvPr id="6" name="Shape 4">
            <a:extLst>
              <a:ext uri="{FF2B5EF4-FFF2-40B4-BE49-F238E27FC236}">
                <a16:creationId xmlns:a16="http://schemas.microsoft.com/office/drawing/2014/main" id="{6E0FCCD3-BF22-43D7-8DE3-EBF938D816AC}"/>
              </a:ext>
            </a:extLst>
          </p:cNvPr>
          <p:cNvSpPr>
            <a:spLocks noGrp="1"/>
          </p:cNvSpPr>
          <p:nvPr/>
        </p:nvSpPr>
        <p:spPr>
          <a:xfrm>
            <a:off x="11951208" y="502920"/>
            <a:ext cx="128016" cy="128016"/>
          </a:xfrm>
          <a:prstGeom prst="ellipse">
            <a:avLst/>
          </a:prstGeom>
          <a:solidFill>
            <a:srgbClr val="B8860B"/>
          </a:solidFill>
        </p:spPr>
        <p:txBody>
          <a:bodyPr/>
          <a:lstStyle/>
          <a:p>
            <a:endParaRPr/>
          </a:p>
        </p:txBody>
      </p:sp>
      <p:sp>
        <p:nvSpPr>
          <p:cNvPr id="7" name="Shape 5">
            <a:extLst>
              <a:ext uri="{FF2B5EF4-FFF2-40B4-BE49-F238E27FC236}">
                <a16:creationId xmlns:a16="http://schemas.microsoft.com/office/drawing/2014/main" id="{4F89AB37-27F6-46A9-8BF8-B3285FF9C789}"/>
              </a:ext>
            </a:extLst>
          </p:cNvPr>
          <p:cNvSpPr>
            <a:spLocks noGrp="1"/>
          </p:cNvSpPr>
          <p:nvPr/>
        </p:nvSpPr>
        <p:spPr>
          <a:xfrm>
            <a:off x="548640" y="1325880"/>
            <a:ext cx="11091672" cy="1143000"/>
          </a:xfrm>
          <a:prstGeom prst="roundRect">
            <a:avLst>
              <a:gd name="adj" fmla="val 6400"/>
            </a:avLst>
          </a:prstGeom>
          <a:solidFill>
            <a:srgbClr val="EAF4FB"/>
          </a:solidFill>
          <a:ln w="19050">
            <a:solidFill>
              <a:srgbClr val="8EC9F0"/>
            </a:solidFill>
            <a:prstDash val="solid"/>
          </a:ln>
        </p:spPr>
        <p:txBody>
          <a:bodyPr/>
          <a:lstStyle/>
          <a:p>
            <a:endParaRPr/>
          </a:p>
        </p:txBody>
      </p:sp>
      <p:sp>
        <p:nvSpPr>
          <p:cNvPr id="8" name="Text 6">
            <a:extLst>
              <a:ext uri="{FF2B5EF4-FFF2-40B4-BE49-F238E27FC236}">
                <a16:creationId xmlns:a16="http://schemas.microsoft.com/office/drawing/2014/main" id="{5379048D-E721-43E9-B0B4-27FED73BCBF1}"/>
              </a:ext>
            </a:extLst>
          </p:cNvPr>
          <p:cNvSpPr>
            <a:spLocks noGrp="1"/>
          </p:cNvSpPr>
          <p:nvPr/>
        </p:nvSpPr>
        <p:spPr>
          <a:xfrm>
            <a:off x="868680" y="1325880"/>
            <a:ext cx="10424160" cy="1143000"/>
          </a:xfrm>
          <a:prstGeom prst="rect">
            <a:avLst/>
          </a:prstGeom>
          <a:noFill/>
        </p:spPr>
        <p:txBody>
          <a:bodyPr wrap="square" lIns="0" tIns="0" rIns="0" bIns="0" anchor="ctr"/>
          <a:lstStyle/>
          <a:p>
            <a:pPr marL="0" indent="0">
              <a:buNone/>
            </a:pPr>
            <a:r>
              <a:rPr sz="2100" b="1">
                <a:solidFill>
                  <a:srgbClr val="1F6FA8"/>
                </a:solidFill>
                <a:latin typeface="Calibri"/>
                <a:ea typeface="Calibri"/>
                <a:cs typeface="Calibri"/>
              </a:rPr>
              <a:t>Can predictive modeling outperform simple valuation heuristics for home prices?</a:t>
            </a:r>
            <a:endParaRPr sz="2100"/>
          </a:p>
        </p:txBody>
      </p:sp>
      <p:sp>
        <p:nvSpPr>
          <p:cNvPr id="9" name="Text 7">
            <a:extLst>
              <a:ext uri="{FF2B5EF4-FFF2-40B4-BE49-F238E27FC236}">
                <a16:creationId xmlns:a16="http://schemas.microsoft.com/office/drawing/2014/main" id="{B18A6E4C-0470-40B0-AD27-DC7BC675A800}"/>
              </a:ext>
            </a:extLst>
          </p:cNvPr>
          <p:cNvSpPr>
            <a:spLocks noGrp="1"/>
          </p:cNvSpPr>
          <p:nvPr/>
        </p:nvSpPr>
        <p:spPr>
          <a:xfrm>
            <a:off x="548640" y="2834640"/>
            <a:ext cx="5669280" cy="3291840"/>
          </a:xfrm>
          <a:prstGeom prst="rect">
            <a:avLst/>
          </a:prstGeom>
          <a:noFill/>
        </p:spPr>
        <p:txBody>
          <a:bodyPr wrap="square" lIns="0" tIns="0" rIns="0" bIns="0" anchor="t"/>
          <a:lstStyle/>
          <a:p>
            <a:pPr marL="0" indent="0">
              <a:spcAft>
                <a:spcPts val="800"/>
              </a:spcAft>
              <a:buNone/>
            </a:pPr>
            <a:r>
              <a:rPr sz="1700" b="1">
                <a:solidFill>
                  <a:srgbClr val="1A1A1A"/>
                </a:solidFill>
                <a:latin typeface="Calibri"/>
                <a:ea typeface="Calibri"/>
                <a:cs typeface="Calibri"/>
              </a:rPr>
              <a:t>Why it matters</a:t>
            </a:r>
            <a:endParaRPr sz="1500"/>
          </a:p>
          <a:p>
            <a:pPr marL="342900" indent="-342900">
              <a:spcAft>
                <a:spcPts val="800"/>
              </a:spcAft>
              <a:buSzPct val="100000"/>
              <a:buChar char="•"/>
            </a:pPr>
            <a:r>
              <a:rPr sz="1500">
                <a:solidFill>
                  <a:srgbClr val="1A1A1A"/>
                </a:solidFill>
                <a:latin typeface="Calibri"/>
                <a:ea typeface="Calibri"/>
                <a:cs typeface="Calibri"/>
              </a:rPr>
              <a:t>Agents typically price with rules of thumb: average $/sqft, or the average sale price of the property type.</a:t>
            </a:r>
            <a:endParaRPr sz="1500"/>
          </a:p>
          <a:p>
            <a:pPr marL="342900" indent="-342900">
              <a:spcAft>
                <a:spcPts val="800"/>
              </a:spcAft>
              <a:buSzPct val="100000"/>
              <a:buChar char="•"/>
            </a:pPr>
            <a:r>
              <a:rPr sz="1500">
                <a:solidFill>
                  <a:srgbClr val="1A1A1A"/>
                </a:solidFill>
                <a:latin typeface="Calibri"/>
                <a:ea typeface="Calibri"/>
                <a:cs typeface="Calibri"/>
              </a:rPr>
              <a:t>Heuristics ignore quality, timing, and carrying costs — leading to systematic over/under-pricing.</a:t>
            </a:r>
            <a:endParaRPr sz="1500"/>
          </a:p>
          <a:p>
            <a:pPr marL="342900" indent="-342900">
              <a:buSzPct val="100000"/>
              <a:buChar char="•"/>
            </a:pPr>
            <a:r>
              <a:rPr sz="1500">
                <a:solidFill>
                  <a:srgbClr val="1A1A1A"/>
                </a:solidFill>
                <a:latin typeface="Calibri"/>
                <a:ea typeface="Calibri"/>
                <a:cs typeface="Calibri"/>
              </a:rPr>
              <a:t>A model with lower average error creates a defensible pricing guideline and flags outlier listings.</a:t>
            </a:r>
            <a:endParaRPr sz="1500"/>
          </a:p>
        </p:txBody>
      </p:sp>
      <p:sp>
        <p:nvSpPr>
          <p:cNvPr id="10" name="Text 8">
            <a:extLst>
              <a:ext uri="{FF2B5EF4-FFF2-40B4-BE49-F238E27FC236}">
                <a16:creationId xmlns:a16="http://schemas.microsoft.com/office/drawing/2014/main" id="{D548A898-37E8-46C6-9D81-63E007E8AFA6}"/>
              </a:ext>
            </a:extLst>
          </p:cNvPr>
          <p:cNvSpPr>
            <a:spLocks noGrp="1"/>
          </p:cNvSpPr>
          <p:nvPr/>
        </p:nvSpPr>
        <p:spPr>
          <a:xfrm>
            <a:off x="6766560" y="2743200"/>
            <a:ext cx="2103120" cy="822960"/>
          </a:xfrm>
          <a:prstGeom prst="rect">
            <a:avLst/>
          </a:prstGeom>
          <a:noFill/>
        </p:spPr>
        <p:txBody>
          <a:bodyPr wrap="square" lIns="0" tIns="0" rIns="0" bIns="0" anchor="ctr"/>
          <a:lstStyle/>
          <a:p>
            <a:pPr marL="0" indent="0" algn="r">
              <a:buNone/>
            </a:pPr>
            <a:r>
              <a:rPr sz="4000" b="1">
                <a:solidFill>
                  <a:srgbClr val="1F6FA8"/>
                </a:solidFill>
                <a:latin typeface="Calibri"/>
                <a:ea typeface="Calibri"/>
                <a:cs typeface="Calibri"/>
              </a:rPr>
              <a:t>1,879</a:t>
            </a:r>
            <a:endParaRPr sz="4000"/>
          </a:p>
        </p:txBody>
      </p:sp>
      <p:sp>
        <p:nvSpPr>
          <p:cNvPr id="11" name="Text 9">
            <a:extLst>
              <a:ext uri="{FF2B5EF4-FFF2-40B4-BE49-F238E27FC236}">
                <a16:creationId xmlns:a16="http://schemas.microsoft.com/office/drawing/2014/main" id="{1F940BFA-C810-4EF5-B0B8-70851BB2F63E}"/>
              </a:ext>
            </a:extLst>
          </p:cNvPr>
          <p:cNvSpPr>
            <a:spLocks noGrp="1"/>
          </p:cNvSpPr>
          <p:nvPr/>
        </p:nvSpPr>
        <p:spPr>
          <a:xfrm>
            <a:off x="9006840" y="2907792"/>
            <a:ext cx="2743200" cy="731520"/>
          </a:xfrm>
          <a:prstGeom prst="rect">
            <a:avLst/>
          </a:prstGeom>
          <a:noFill/>
        </p:spPr>
        <p:txBody>
          <a:bodyPr wrap="square" lIns="0" tIns="0" rIns="0" bIns="0" anchor="t"/>
          <a:lstStyle/>
          <a:p>
            <a:pPr marL="0" indent="0">
              <a:buNone/>
            </a:pPr>
            <a:r>
              <a:rPr sz="1300">
                <a:solidFill>
                  <a:srgbClr val="666666"/>
                </a:solidFill>
                <a:latin typeface="Calibri"/>
                <a:ea typeface="Calibri"/>
                <a:cs typeface="Calibri"/>
              </a:rPr>
              <a:t>residential sales (Condo / Bungalow)</a:t>
            </a:r>
            <a:endParaRPr sz="1300"/>
          </a:p>
        </p:txBody>
      </p:sp>
      <p:sp>
        <p:nvSpPr>
          <p:cNvPr id="12" name="Text 10">
            <a:extLst>
              <a:ext uri="{FF2B5EF4-FFF2-40B4-BE49-F238E27FC236}">
                <a16:creationId xmlns:a16="http://schemas.microsoft.com/office/drawing/2014/main" id="{907DCF3C-C6B6-4956-864A-5CFA1ED331D0}"/>
              </a:ext>
            </a:extLst>
          </p:cNvPr>
          <p:cNvSpPr>
            <a:spLocks noGrp="1"/>
          </p:cNvSpPr>
          <p:nvPr/>
        </p:nvSpPr>
        <p:spPr>
          <a:xfrm>
            <a:off x="6766560" y="3886200"/>
            <a:ext cx="2103120" cy="822960"/>
          </a:xfrm>
          <a:prstGeom prst="rect">
            <a:avLst/>
          </a:prstGeom>
          <a:noFill/>
        </p:spPr>
        <p:txBody>
          <a:bodyPr wrap="square" lIns="0" tIns="0" rIns="0" bIns="0" anchor="ctr"/>
          <a:lstStyle/>
          <a:p>
            <a:pPr marL="0" indent="0" algn="r">
              <a:buNone/>
            </a:pPr>
            <a:r>
              <a:rPr sz="4000" b="1">
                <a:solidFill>
                  <a:srgbClr val="1F6FA8"/>
                </a:solidFill>
                <a:latin typeface="Calibri"/>
                <a:ea typeface="Calibri"/>
                <a:cs typeface="Calibri"/>
              </a:rPr>
              <a:t>$423K</a:t>
            </a:r>
            <a:endParaRPr sz="4000"/>
          </a:p>
        </p:txBody>
      </p:sp>
      <p:sp>
        <p:nvSpPr>
          <p:cNvPr id="13" name="Text 11">
            <a:extLst>
              <a:ext uri="{FF2B5EF4-FFF2-40B4-BE49-F238E27FC236}">
                <a16:creationId xmlns:a16="http://schemas.microsoft.com/office/drawing/2014/main" id="{886973AD-9515-43EF-B568-720CE323D8D1}"/>
              </a:ext>
            </a:extLst>
          </p:cNvPr>
          <p:cNvSpPr>
            <a:spLocks noGrp="1"/>
          </p:cNvSpPr>
          <p:nvPr/>
        </p:nvSpPr>
        <p:spPr>
          <a:xfrm>
            <a:off x="9006840" y="4050792"/>
            <a:ext cx="2743200" cy="731520"/>
          </a:xfrm>
          <a:prstGeom prst="rect">
            <a:avLst/>
          </a:prstGeom>
          <a:noFill/>
        </p:spPr>
        <p:txBody>
          <a:bodyPr wrap="square" lIns="0" tIns="0" rIns="0" bIns="0" anchor="t"/>
          <a:lstStyle/>
          <a:p>
            <a:pPr marL="0" indent="0">
              <a:buNone/>
            </a:pPr>
            <a:r>
              <a:rPr sz="1300">
                <a:solidFill>
                  <a:srgbClr val="666666"/>
                </a:solidFill>
                <a:latin typeface="Calibri"/>
                <a:ea typeface="Calibri"/>
                <a:cs typeface="Calibri"/>
              </a:rPr>
              <a:t>mean sale price  ·  range $200K–$800K</a:t>
            </a:r>
            <a:endParaRPr sz="1300"/>
          </a:p>
        </p:txBody>
      </p:sp>
      <p:sp>
        <p:nvSpPr>
          <p:cNvPr id="14" name="Text 12">
            <a:extLst>
              <a:ext uri="{FF2B5EF4-FFF2-40B4-BE49-F238E27FC236}">
                <a16:creationId xmlns:a16="http://schemas.microsoft.com/office/drawing/2014/main" id="{3845F9AE-6BF8-4C23-B9D7-545930C42F8D}"/>
              </a:ext>
            </a:extLst>
          </p:cNvPr>
          <p:cNvSpPr>
            <a:spLocks noGrp="1"/>
          </p:cNvSpPr>
          <p:nvPr/>
        </p:nvSpPr>
        <p:spPr>
          <a:xfrm>
            <a:off x="6766560" y="5029200"/>
            <a:ext cx="2103120" cy="822960"/>
          </a:xfrm>
          <a:prstGeom prst="rect">
            <a:avLst/>
          </a:prstGeom>
          <a:noFill/>
        </p:spPr>
        <p:txBody>
          <a:bodyPr wrap="square" lIns="0" tIns="0" rIns="0" bIns="0" anchor="ctr"/>
          <a:lstStyle/>
          <a:p>
            <a:pPr marL="0" indent="0" algn="r">
              <a:buNone/>
            </a:pPr>
            <a:r>
              <a:rPr sz="4000" b="1">
                <a:solidFill>
                  <a:srgbClr val="1F6FA8"/>
                </a:solidFill>
                <a:latin typeface="Calibri"/>
                <a:ea typeface="Calibri"/>
                <a:cs typeface="Calibri"/>
              </a:rPr>
              <a:t>11</a:t>
            </a:r>
            <a:endParaRPr sz="4000"/>
          </a:p>
        </p:txBody>
      </p:sp>
      <p:sp>
        <p:nvSpPr>
          <p:cNvPr id="15" name="Text 13">
            <a:extLst>
              <a:ext uri="{FF2B5EF4-FFF2-40B4-BE49-F238E27FC236}">
                <a16:creationId xmlns:a16="http://schemas.microsoft.com/office/drawing/2014/main" id="{9A03F071-3DD1-4B13-AB7B-678AEEFC386C}"/>
              </a:ext>
            </a:extLst>
          </p:cNvPr>
          <p:cNvSpPr>
            <a:spLocks noGrp="1"/>
          </p:cNvSpPr>
          <p:nvPr/>
        </p:nvSpPr>
        <p:spPr>
          <a:xfrm>
            <a:off x="9006840" y="5193792"/>
            <a:ext cx="2743200" cy="731520"/>
          </a:xfrm>
          <a:prstGeom prst="rect">
            <a:avLst/>
          </a:prstGeom>
          <a:noFill/>
        </p:spPr>
        <p:txBody>
          <a:bodyPr wrap="square" lIns="0" tIns="0" rIns="0" bIns="0" anchor="t"/>
          <a:lstStyle/>
          <a:p>
            <a:pPr marL="0" indent="0">
              <a:buNone/>
            </a:pPr>
            <a:r>
              <a:rPr sz="1300">
                <a:solidFill>
                  <a:srgbClr val="666666"/>
                </a:solidFill>
                <a:latin typeface="Calibri"/>
                <a:ea typeface="Calibri"/>
                <a:cs typeface="Calibri"/>
              </a:rPr>
              <a:t>candidate features per property</a:t>
            </a:r>
            <a:endParaRPr sz="1300"/>
          </a:p>
        </p:txBody>
      </p:sp>
    </p:spTree>
    <p:extLst>
      <p:ext uri="{BB962C8B-B14F-4D97-AF65-F5344CB8AC3E}">
        <p14:creationId xmlns:p14="http://schemas.microsoft.com/office/powerpoint/2010/main" val="1130029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7E7E317-E878-455F-B5D0-7D64FB80C37E}"/>
              </a:ext>
            </a:extLst>
          </p:cNvPr>
          <p:cNvSpPr>
            <a:spLocks noGrp="1"/>
          </p:cNvSpPr>
          <p:nvPr/>
        </p:nvSpPr>
        <p:spPr>
          <a:xfrm>
            <a:off x="548640" y="320040"/>
            <a:ext cx="10515600" cy="731520"/>
          </a:xfrm>
          <a:prstGeom prst="rect">
            <a:avLst/>
          </a:prstGeom>
          <a:noFill/>
        </p:spPr>
        <p:txBody>
          <a:bodyPr wrap="square" lIns="0" tIns="0" rIns="0" bIns="0" anchor="ctr"/>
          <a:lstStyle/>
          <a:p>
            <a:pPr marL="0" indent="0" algn="l">
              <a:buNone/>
            </a:pPr>
            <a:r>
              <a:rPr sz="3200" b="1">
                <a:solidFill>
                  <a:srgbClr val="1A1A1A"/>
                </a:solidFill>
                <a:latin typeface="Calibri"/>
                <a:ea typeface="Calibri"/>
                <a:cs typeface="Calibri"/>
              </a:rPr>
              <a:t>Data processing</a:t>
            </a:r>
            <a:endParaRPr sz="3200"/>
          </a:p>
        </p:txBody>
      </p:sp>
      <p:sp>
        <p:nvSpPr>
          <p:cNvPr id="3" name="Shape 1">
            <a:extLst>
              <a:ext uri="{FF2B5EF4-FFF2-40B4-BE49-F238E27FC236}">
                <a16:creationId xmlns:a16="http://schemas.microsoft.com/office/drawing/2014/main" id="{4EB429D2-DF7A-4D56-B707-F056E65D5B42}"/>
              </a:ext>
            </a:extLst>
          </p:cNvPr>
          <p:cNvSpPr>
            <a:spLocks noGrp="1"/>
          </p:cNvSpPr>
          <p:nvPr/>
        </p:nvSpPr>
        <p:spPr>
          <a:xfrm>
            <a:off x="11292840" y="502920"/>
            <a:ext cx="128016" cy="128016"/>
          </a:xfrm>
          <a:prstGeom prst="ellipse">
            <a:avLst/>
          </a:prstGeom>
          <a:solidFill>
            <a:srgbClr val="1F6FA8"/>
          </a:solidFill>
        </p:spPr>
        <p:txBody>
          <a:bodyPr/>
          <a:lstStyle/>
          <a:p>
            <a:endParaRPr/>
          </a:p>
        </p:txBody>
      </p:sp>
      <p:sp>
        <p:nvSpPr>
          <p:cNvPr id="4" name="Shape 2">
            <a:extLst>
              <a:ext uri="{FF2B5EF4-FFF2-40B4-BE49-F238E27FC236}">
                <a16:creationId xmlns:a16="http://schemas.microsoft.com/office/drawing/2014/main" id="{D171943D-6309-434C-9C16-DBEBE0AC2B94}"/>
              </a:ext>
            </a:extLst>
          </p:cNvPr>
          <p:cNvSpPr>
            <a:spLocks noGrp="1"/>
          </p:cNvSpPr>
          <p:nvPr/>
        </p:nvSpPr>
        <p:spPr>
          <a:xfrm>
            <a:off x="11512296" y="502920"/>
            <a:ext cx="128016" cy="128016"/>
          </a:xfrm>
          <a:prstGeom prst="ellipse">
            <a:avLst/>
          </a:prstGeom>
          <a:solidFill>
            <a:srgbClr val="7C4DA8"/>
          </a:solidFill>
        </p:spPr>
        <p:txBody>
          <a:bodyPr/>
          <a:lstStyle/>
          <a:p>
            <a:endParaRPr/>
          </a:p>
        </p:txBody>
      </p:sp>
      <p:sp>
        <p:nvSpPr>
          <p:cNvPr id="5" name="Shape 3">
            <a:extLst>
              <a:ext uri="{FF2B5EF4-FFF2-40B4-BE49-F238E27FC236}">
                <a16:creationId xmlns:a16="http://schemas.microsoft.com/office/drawing/2014/main" id="{91B5A96A-6235-48DE-A9F3-5CBDBF4BB86D}"/>
              </a:ext>
            </a:extLst>
          </p:cNvPr>
          <p:cNvSpPr>
            <a:spLocks noGrp="1"/>
          </p:cNvSpPr>
          <p:nvPr/>
        </p:nvSpPr>
        <p:spPr>
          <a:xfrm>
            <a:off x="11731752" y="502920"/>
            <a:ext cx="128016" cy="128016"/>
          </a:xfrm>
          <a:prstGeom prst="ellipse">
            <a:avLst/>
          </a:prstGeom>
          <a:solidFill>
            <a:srgbClr val="2E8B57"/>
          </a:solidFill>
        </p:spPr>
        <p:txBody>
          <a:bodyPr/>
          <a:lstStyle/>
          <a:p>
            <a:endParaRPr/>
          </a:p>
        </p:txBody>
      </p:sp>
      <p:sp>
        <p:nvSpPr>
          <p:cNvPr id="6" name="Shape 4">
            <a:extLst>
              <a:ext uri="{FF2B5EF4-FFF2-40B4-BE49-F238E27FC236}">
                <a16:creationId xmlns:a16="http://schemas.microsoft.com/office/drawing/2014/main" id="{2964A383-1C5E-441C-B371-F6CAB6528548}"/>
              </a:ext>
            </a:extLst>
          </p:cNvPr>
          <p:cNvSpPr>
            <a:spLocks noGrp="1"/>
          </p:cNvSpPr>
          <p:nvPr/>
        </p:nvSpPr>
        <p:spPr>
          <a:xfrm>
            <a:off x="11951208" y="502920"/>
            <a:ext cx="128016" cy="128016"/>
          </a:xfrm>
          <a:prstGeom prst="ellipse">
            <a:avLst/>
          </a:prstGeom>
          <a:solidFill>
            <a:srgbClr val="B8860B"/>
          </a:solidFill>
        </p:spPr>
        <p:txBody>
          <a:bodyPr/>
          <a:lstStyle/>
          <a:p>
            <a:endParaRPr/>
          </a:p>
        </p:txBody>
      </p:sp>
      <p:sp>
        <p:nvSpPr>
          <p:cNvPr id="7" name="Text 5">
            <a:extLst>
              <a:ext uri="{FF2B5EF4-FFF2-40B4-BE49-F238E27FC236}">
                <a16:creationId xmlns:a16="http://schemas.microsoft.com/office/drawing/2014/main" id="{584C30FF-CC90-46EC-A164-17758A23FEA6}"/>
              </a:ext>
            </a:extLst>
          </p:cNvPr>
          <p:cNvSpPr>
            <a:spLocks noGrp="1"/>
          </p:cNvSpPr>
          <p:nvPr/>
        </p:nvSpPr>
        <p:spPr>
          <a:xfrm>
            <a:off x="548640" y="1371600"/>
            <a:ext cx="5029200" cy="4937760"/>
          </a:xfrm>
          <a:prstGeom prst="rect">
            <a:avLst/>
          </a:prstGeom>
          <a:noFill/>
        </p:spPr>
        <p:txBody>
          <a:bodyPr wrap="square" lIns="0" tIns="0" rIns="0" bIns="0" anchor="t"/>
          <a:lstStyle/>
          <a:p>
            <a:pPr marL="0" indent="0">
              <a:spcAft>
                <a:spcPts val="600"/>
              </a:spcAft>
              <a:buNone/>
            </a:pPr>
            <a:r>
              <a:rPr sz="1600" b="1">
                <a:solidFill>
                  <a:srgbClr val="7C4DA8"/>
                </a:solidFill>
                <a:latin typeface="Calibri"/>
                <a:ea typeface="Calibri"/>
                <a:cs typeface="Calibri"/>
              </a:rPr>
              <a:t>Dataset</a:t>
            </a:r>
            <a:endParaRPr sz="1500"/>
          </a:p>
          <a:p>
            <a:pPr marL="342900" indent="-342900">
              <a:spcAft>
                <a:spcPts val="600"/>
              </a:spcAft>
              <a:buSzPct val="100000"/>
              <a:buChar char="•"/>
            </a:pPr>
            <a:r>
              <a:rPr sz="1500">
                <a:solidFill>
                  <a:srgbClr val="1A1A1A"/>
                </a:solidFill>
                <a:latin typeface="Calibri"/>
                <a:ea typeface="Calibri"/>
                <a:cs typeface="Calibri"/>
              </a:rPr>
              <a:t>1,879 rows × 11 columns; zero missing values</a:t>
            </a:r>
            <a:endParaRPr sz="1500"/>
          </a:p>
          <a:p>
            <a:pPr marL="342900" indent="-342900">
              <a:spcAft>
                <a:spcPts val="1200"/>
              </a:spcAft>
              <a:buSzPct val="100000"/>
              <a:buChar char="•"/>
            </a:pPr>
            <a:r>
              <a:rPr sz="1500">
                <a:solidFill>
                  <a:srgbClr val="1A1A1A"/>
                </a:solidFill>
                <a:latin typeface="Calibri"/>
                <a:ea typeface="Calibri"/>
                <a:cs typeface="Calibri"/>
              </a:rPr>
              <a:t>Target: price  —  mean $423,055, std $151,538</a:t>
            </a:r>
            <a:endParaRPr sz="1500"/>
          </a:p>
          <a:p>
            <a:pPr marL="0" indent="0">
              <a:spcAft>
                <a:spcPts val="600"/>
              </a:spcAft>
              <a:buNone/>
            </a:pPr>
            <a:r>
              <a:rPr sz="1600" b="1">
                <a:solidFill>
                  <a:srgbClr val="7C4DA8"/>
                </a:solidFill>
                <a:latin typeface="Calibri"/>
                <a:ea typeface="Calibri"/>
                <a:cs typeface="Calibri"/>
              </a:rPr>
              <a:t>Feature engineering</a:t>
            </a:r>
            <a:endParaRPr sz="1500"/>
          </a:p>
          <a:p>
            <a:pPr marL="342900" indent="-342900">
              <a:spcAft>
                <a:spcPts val="1200"/>
              </a:spcAft>
              <a:buSzPct val="100000"/>
              <a:buChar char="•"/>
            </a:pPr>
            <a:r>
              <a:rPr sz="1500">
                <a:solidFill>
                  <a:srgbClr val="1A1A1A"/>
                </a:solidFill>
                <a:latin typeface="Calibri"/>
                <a:ea typeface="Calibri"/>
                <a:cs typeface="Calibri"/>
              </a:rPr>
              <a:t>property_type one-hot encoded (Condo / Bungalow) → 11 features, none dropped</a:t>
            </a:r>
            <a:endParaRPr sz="1500"/>
          </a:p>
          <a:p>
            <a:pPr marL="0" indent="0">
              <a:spcAft>
                <a:spcPts val="600"/>
              </a:spcAft>
              <a:buNone/>
            </a:pPr>
            <a:r>
              <a:rPr sz="1600" b="1">
                <a:solidFill>
                  <a:srgbClr val="7C4DA8"/>
                </a:solidFill>
                <a:latin typeface="Calibri"/>
                <a:ea typeface="Calibri"/>
                <a:cs typeface="Calibri"/>
              </a:rPr>
              <a:t>Top correlations with price</a:t>
            </a:r>
            <a:endParaRPr sz="1500"/>
          </a:p>
          <a:p>
            <a:pPr marL="342900" indent="-342900">
              <a:spcAft>
                <a:spcPts val="600"/>
              </a:spcAft>
              <a:buSzPct val="100000"/>
              <a:buChar char="•"/>
            </a:pPr>
            <a:r>
              <a:rPr sz="1500">
                <a:solidFill>
                  <a:srgbClr val="1A1A1A"/>
                </a:solidFill>
                <a:latin typeface="Calibri"/>
                <a:ea typeface="Calibri"/>
                <a:cs typeface="Calibri"/>
              </a:rPr>
              <a:t>property_tax 0.53  ·  insurance 0.53  ·  sqft 0.47</a:t>
            </a:r>
            <a:endParaRPr sz="1500"/>
          </a:p>
          <a:p>
            <a:pPr marL="342900" indent="-342900">
              <a:buSzPct val="100000"/>
              <a:buChar char="•"/>
            </a:pPr>
            <a:r>
              <a:rPr sz="1500">
                <a:solidFill>
                  <a:srgbClr val="1A1A1A"/>
                </a:solidFill>
                <a:latin typeface="Calibri"/>
                <a:ea typeface="Calibri"/>
                <a:cs typeface="Calibri"/>
              </a:rPr>
              <a:t>baths 0.39  ·  beds 0.38  ·  basement 0.27</a:t>
            </a:r>
            <a:endParaRPr sz="1500"/>
          </a:p>
        </p:txBody>
      </p:sp>
      <p:pic>
        <p:nvPicPr>
          <p:cNvPr id="19" name="Image 0"/>
          <p:cNvPicPr>
            <a:picLocks noChangeAspect="1"/>
          </p:cNvPicPr>
          <p:nvPr/>
        </p:nvPicPr>
        <p:blipFill>
          <a:blip r:embed="rId3"/>
          <a:stretch>
            <a:fillRect/>
          </a:stretch>
        </p:blipFill>
        <p:spPr>
          <a:xfrm>
            <a:off x="5806440" y="1325880"/>
            <a:ext cx="4160520" cy="3529584"/>
          </a:xfrm>
          <a:prstGeom prst="rect">
            <a:avLst/>
          </a:prstGeom>
        </p:spPr>
      </p:pic>
      <p:pic>
        <p:nvPicPr>
          <p:cNvPr id="20" name="Image 1"/>
          <p:cNvPicPr>
            <a:picLocks noChangeAspect="1"/>
          </p:cNvPicPr>
          <p:nvPr/>
        </p:nvPicPr>
        <p:blipFill>
          <a:blip r:embed="rId4"/>
          <a:stretch>
            <a:fillRect/>
          </a:stretch>
        </p:blipFill>
        <p:spPr>
          <a:xfrm>
            <a:off x="5806440" y="4937760"/>
            <a:ext cx="2249424" cy="1600200"/>
          </a:xfrm>
          <a:prstGeom prst="rect">
            <a:avLst/>
          </a:prstGeom>
        </p:spPr>
      </p:pic>
      <p:sp>
        <p:nvSpPr>
          <p:cNvPr id="10" name="Text 6">
            <a:extLst>
              <a:ext uri="{FF2B5EF4-FFF2-40B4-BE49-F238E27FC236}">
                <a16:creationId xmlns:a16="http://schemas.microsoft.com/office/drawing/2014/main" id="{5BCE865B-81C2-4E58-81BB-2FF26D439518}"/>
              </a:ext>
            </a:extLst>
          </p:cNvPr>
          <p:cNvSpPr>
            <a:spLocks noGrp="1"/>
          </p:cNvSpPr>
          <p:nvPr/>
        </p:nvSpPr>
        <p:spPr>
          <a:xfrm>
            <a:off x="8275320" y="4983480"/>
            <a:ext cx="3291840" cy="1463040"/>
          </a:xfrm>
          <a:prstGeom prst="rect">
            <a:avLst/>
          </a:prstGeom>
          <a:noFill/>
        </p:spPr>
        <p:txBody>
          <a:bodyPr wrap="square" lIns="0" tIns="0" rIns="0" bIns="0" anchor="ctr"/>
          <a:lstStyle/>
          <a:p>
            <a:pPr marL="0" indent="0">
              <a:buNone/>
            </a:pPr>
            <a:r>
              <a:rPr sz="1200" i="1">
                <a:solidFill>
                  <a:srgbClr val="666666"/>
                </a:solidFill>
                <a:latin typeface="Calibri"/>
                <a:ea typeface="Calibri"/>
                <a:cs typeface="Calibri"/>
              </a:rPr>
              <a:t>Right-skewed price distribution;</a:t>
            </a:r>
            <a:endParaRPr sz="1200"/>
          </a:p>
          <a:p>
            <a:pPr marL="0" indent="0">
              <a:buNone/>
            </a:pPr>
            <a:r>
              <a:rPr sz="1200" i="1">
                <a:solidFill>
                  <a:srgbClr val="666666"/>
                </a:solidFill>
                <a:latin typeface="Calibri"/>
                <a:ea typeface="Calibri"/>
                <a:cs typeface="Calibri"/>
              </a:rPr>
              <a:t>costs (tax, insurance) correlate</a:t>
            </a:r>
            <a:endParaRPr sz="1200"/>
          </a:p>
          <a:p>
            <a:pPr marL="0" indent="0">
              <a:buNone/>
            </a:pPr>
            <a:r>
              <a:rPr sz="1200" i="1">
                <a:solidFill>
                  <a:srgbClr val="666666"/>
                </a:solidFill>
                <a:latin typeface="Calibri"/>
                <a:ea typeface="Calibri"/>
                <a:cs typeface="Calibri"/>
              </a:rPr>
              <a:t>most strongly with price.</a:t>
            </a:r>
            <a:endParaRPr sz="1200"/>
          </a:p>
        </p:txBody>
      </p:sp>
    </p:spTree>
    <p:extLst>
      <p:ext uri="{BB962C8B-B14F-4D97-AF65-F5344CB8AC3E}">
        <p14:creationId xmlns:p14="http://schemas.microsoft.com/office/powerpoint/2010/main" val="1179271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B2292C-1AE2-4490-A44E-F71F57E16E69}"/>
              </a:ext>
            </a:extLst>
          </p:cNvPr>
          <p:cNvSpPr>
            <a:spLocks noGrp="1"/>
          </p:cNvSpPr>
          <p:nvPr/>
        </p:nvSpPr>
        <p:spPr>
          <a:xfrm>
            <a:off x="548640" y="320040"/>
            <a:ext cx="10515600" cy="731520"/>
          </a:xfrm>
          <a:prstGeom prst="rect">
            <a:avLst/>
          </a:prstGeom>
          <a:noFill/>
        </p:spPr>
        <p:txBody>
          <a:bodyPr wrap="square" lIns="0" tIns="0" rIns="0" bIns="0" anchor="ctr"/>
          <a:lstStyle/>
          <a:p>
            <a:pPr marL="0" indent="0" algn="l">
              <a:buNone/>
            </a:pPr>
            <a:r>
              <a:rPr sz="3200" b="1">
                <a:solidFill>
                  <a:srgbClr val="1A1A1A"/>
                </a:solidFill>
                <a:latin typeface="Calibri"/>
                <a:ea typeface="Calibri"/>
                <a:cs typeface="Calibri"/>
              </a:rPr>
              <a:t>Modelling</a:t>
            </a:r>
            <a:endParaRPr sz="3200"/>
          </a:p>
        </p:txBody>
      </p:sp>
      <p:sp>
        <p:nvSpPr>
          <p:cNvPr id="3" name="Shape 1">
            <a:extLst>
              <a:ext uri="{FF2B5EF4-FFF2-40B4-BE49-F238E27FC236}">
                <a16:creationId xmlns:a16="http://schemas.microsoft.com/office/drawing/2014/main" id="{F1E30749-1642-46B2-9F28-53A56A9388C9}"/>
              </a:ext>
            </a:extLst>
          </p:cNvPr>
          <p:cNvSpPr>
            <a:spLocks noGrp="1"/>
          </p:cNvSpPr>
          <p:nvPr/>
        </p:nvSpPr>
        <p:spPr>
          <a:xfrm>
            <a:off x="11292840" y="502920"/>
            <a:ext cx="128016" cy="128016"/>
          </a:xfrm>
          <a:prstGeom prst="ellipse">
            <a:avLst/>
          </a:prstGeom>
          <a:solidFill>
            <a:srgbClr val="1F6FA8"/>
          </a:solidFill>
        </p:spPr>
        <p:txBody>
          <a:bodyPr/>
          <a:lstStyle/>
          <a:p>
            <a:endParaRPr/>
          </a:p>
        </p:txBody>
      </p:sp>
      <p:sp>
        <p:nvSpPr>
          <p:cNvPr id="4" name="Shape 2">
            <a:extLst>
              <a:ext uri="{FF2B5EF4-FFF2-40B4-BE49-F238E27FC236}">
                <a16:creationId xmlns:a16="http://schemas.microsoft.com/office/drawing/2014/main" id="{F066B1C5-4A99-4AFA-B267-2D0F14E6D97D}"/>
              </a:ext>
            </a:extLst>
          </p:cNvPr>
          <p:cNvSpPr>
            <a:spLocks noGrp="1"/>
          </p:cNvSpPr>
          <p:nvPr/>
        </p:nvSpPr>
        <p:spPr>
          <a:xfrm>
            <a:off x="11512296" y="502920"/>
            <a:ext cx="128016" cy="128016"/>
          </a:xfrm>
          <a:prstGeom prst="ellipse">
            <a:avLst/>
          </a:prstGeom>
          <a:solidFill>
            <a:srgbClr val="7C4DA8"/>
          </a:solidFill>
        </p:spPr>
        <p:txBody>
          <a:bodyPr/>
          <a:lstStyle/>
          <a:p>
            <a:endParaRPr/>
          </a:p>
        </p:txBody>
      </p:sp>
      <p:sp>
        <p:nvSpPr>
          <p:cNvPr id="5" name="Shape 3">
            <a:extLst>
              <a:ext uri="{FF2B5EF4-FFF2-40B4-BE49-F238E27FC236}">
                <a16:creationId xmlns:a16="http://schemas.microsoft.com/office/drawing/2014/main" id="{755DD287-0485-4AD6-9DDA-946CD2724231}"/>
              </a:ext>
            </a:extLst>
          </p:cNvPr>
          <p:cNvSpPr>
            <a:spLocks noGrp="1"/>
          </p:cNvSpPr>
          <p:nvPr/>
        </p:nvSpPr>
        <p:spPr>
          <a:xfrm>
            <a:off x="11731752" y="502920"/>
            <a:ext cx="128016" cy="128016"/>
          </a:xfrm>
          <a:prstGeom prst="ellipse">
            <a:avLst/>
          </a:prstGeom>
          <a:solidFill>
            <a:srgbClr val="2E8B57"/>
          </a:solidFill>
        </p:spPr>
        <p:txBody>
          <a:bodyPr/>
          <a:lstStyle/>
          <a:p>
            <a:endParaRPr/>
          </a:p>
        </p:txBody>
      </p:sp>
      <p:sp>
        <p:nvSpPr>
          <p:cNvPr id="6" name="Shape 4">
            <a:extLst>
              <a:ext uri="{FF2B5EF4-FFF2-40B4-BE49-F238E27FC236}">
                <a16:creationId xmlns:a16="http://schemas.microsoft.com/office/drawing/2014/main" id="{A9E7BCE3-AAE3-48A3-9845-A35C599C20AB}"/>
              </a:ext>
            </a:extLst>
          </p:cNvPr>
          <p:cNvSpPr>
            <a:spLocks noGrp="1"/>
          </p:cNvSpPr>
          <p:nvPr/>
        </p:nvSpPr>
        <p:spPr>
          <a:xfrm>
            <a:off x="11951208" y="502920"/>
            <a:ext cx="128016" cy="128016"/>
          </a:xfrm>
          <a:prstGeom prst="ellipse">
            <a:avLst/>
          </a:prstGeom>
          <a:solidFill>
            <a:srgbClr val="B8860B"/>
          </a:solidFill>
        </p:spPr>
        <p:txBody>
          <a:bodyPr/>
          <a:lstStyle/>
          <a:p>
            <a:endParaRPr/>
          </a:p>
        </p:txBody>
      </p:sp>
      <p:graphicFrame>
        <p:nvGraphicFramePr>
          <p:cNvPr id="17" name="Table 0"/>
          <p:cNvGraphicFramePr/>
          <p:nvPr/>
        </p:nvGraphicFramePr>
        <p:xfrm>
          <a:off x="548640" y="1371600"/>
          <a:ext cx="5486400" cy="1536192"/>
        </p:xfrm>
        <a:graphic>
          <a:graphicData uri="http://schemas.openxmlformats.org/drawingml/2006/table">
            <a:tbl>
              <a:tblPr/>
              <a:tblGrid>
                <a:gridCol w="1828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84048">
                <a:tc>
                  <a:txBody>
                    <a:bodyPr/>
                    <a:lstStyle/>
                    <a:p>
                      <a:pPr marL="0" indent="0" algn="ctr">
                        <a:buNone/>
                      </a:pPr>
                      <a:r>
                        <a:rPr sz="1200" b="1">
                          <a:solidFill>
                            <a:srgbClr val="FFFFFF"/>
                          </a:solidFill>
                          <a:latin typeface="Calibri"/>
                          <a:ea typeface="Calibri"/>
                          <a:cs typeface="Calibri"/>
                        </a:rPr>
                        <a:t>Model</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2E8B57"/>
                    </a:solidFill>
                  </a:tcPr>
                </a:tc>
                <a:tc>
                  <a:txBody>
                    <a:bodyPr/>
                    <a:lstStyle/>
                    <a:p>
                      <a:pPr marL="0" indent="0" algn="ctr">
                        <a:buNone/>
                      </a:pPr>
                      <a:r>
                        <a:rPr sz="1200" b="1">
                          <a:solidFill>
                            <a:srgbClr val="FFFFFF"/>
                          </a:solidFill>
                          <a:latin typeface="Calibri"/>
                          <a:ea typeface="Calibri"/>
                          <a:cs typeface="Calibri"/>
                        </a:rPr>
                        <a:t>Train MAE</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2E8B57"/>
                    </a:solidFill>
                  </a:tcPr>
                </a:tc>
                <a:tc>
                  <a:txBody>
                    <a:bodyPr/>
                    <a:lstStyle/>
                    <a:p>
                      <a:pPr marL="0" indent="0" algn="ctr">
                        <a:buNone/>
                      </a:pPr>
                      <a:r>
                        <a:rPr sz="1200" b="1">
                          <a:solidFill>
                            <a:srgbClr val="FFFFFF"/>
                          </a:solidFill>
                          <a:latin typeface="Calibri"/>
                          <a:ea typeface="Calibri"/>
                          <a:cs typeface="Calibri"/>
                        </a:rPr>
                        <a:t>Test MAE</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2E8B57"/>
                    </a:solidFill>
                  </a:tcPr>
                </a:tc>
                <a:tc>
                  <a:txBody>
                    <a:bodyPr/>
                    <a:lstStyle/>
                    <a:p>
                      <a:pPr marL="0" indent="0" algn="ctr">
                        <a:buNone/>
                      </a:pPr>
                      <a:r>
                        <a:rPr sz="1200" b="1">
                          <a:solidFill>
                            <a:srgbClr val="FFFFFF"/>
                          </a:solidFill>
                          <a:latin typeface="Calibri"/>
                          <a:ea typeface="Calibri"/>
                          <a:cs typeface="Calibri"/>
                        </a:rPr>
                        <a:t>Test RMSE</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2E8B57"/>
                    </a:solidFill>
                  </a:tcPr>
                </a:tc>
                <a:tc>
                  <a:txBody>
                    <a:bodyPr/>
                    <a:lstStyle/>
                    <a:p>
                      <a:pPr marL="0" indent="0" algn="ctr">
                        <a:buNone/>
                      </a:pPr>
                      <a:r>
                        <a:rPr sz="1200" b="1">
                          <a:solidFill>
                            <a:srgbClr val="FFFFFF"/>
                          </a:solidFill>
                          <a:latin typeface="Calibri"/>
                          <a:ea typeface="Calibri"/>
                          <a:cs typeface="Calibri"/>
                        </a:rPr>
                        <a:t>Test R²</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2E8B57"/>
                    </a:solidFill>
                  </a:tcPr>
                </a:tc>
                <a:extLst>
                  <a:ext uri="{0D108BD9-81ED-4DB2-BD59-A6C34878D82A}">
                    <a16:rowId xmlns:a16="http://schemas.microsoft.com/office/drawing/2014/main" val="10000"/>
                  </a:ext>
                </a:extLst>
              </a:tr>
              <a:tr h="384048">
                <a:tc>
                  <a:txBody>
                    <a:bodyPr/>
                    <a:lstStyle/>
                    <a:p>
                      <a:pPr marL="0" indent="0" algn="ctr">
                        <a:buNone/>
                      </a:pPr>
                      <a:r>
                        <a:rPr sz="1200" b="1">
                          <a:solidFill>
                            <a:srgbClr val="1A1A1A"/>
                          </a:solidFill>
                          <a:latin typeface="Calibri"/>
                          <a:ea typeface="Calibri"/>
                          <a:cs typeface="Calibri"/>
                        </a:rPr>
                        <a:t>Random Forest</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EBF7EA"/>
                    </a:solidFill>
                  </a:tcPr>
                </a:tc>
                <a:tc>
                  <a:txBody>
                    <a:bodyPr/>
                    <a:lstStyle/>
                    <a:p>
                      <a:pPr marL="0" indent="0" algn="ctr">
                        <a:buNone/>
                      </a:pPr>
                      <a:r>
                        <a:rPr sz="1200">
                          <a:solidFill>
                            <a:srgbClr val="1A1A1A"/>
                          </a:solidFill>
                          <a:latin typeface="Calibri"/>
                          <a:ea typeface="Calibri"/>
                          <a:cs typeface="Calibri"/>
                        </a:rPr>
                        <a:t>$17,619</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EBF7EA"/>
                    </a:solidFill>
                  </a:tcPr>
                </a:tc>
                <a:tc>
                  <a:txBody>
                    <a:bodyPr/>
                    <a:lstStyle/>
                    <a:p>
                      <a:pPr marL="0" indent="0" algn="ctr">
                        <a:buNone/>
                      </a:pPr>
                      <a:r>
                        <a:rPr sz="1200" b="1">
                          <a:solidFill>
                            <a:srgbClr val="1A1A1A"/>
                          </a:solidFill>
                          <a:latin typeface="Calibri"/>
                          <a:ea typeface="Calibri"/>
                          <a:cs typeface="Calibri"/>
                        </a:rPr>
                        <a:t>$43,795</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EBF7EA"/>
                    </a:solidFill>
                  </a:tcPr>
                </a:tc>
                <a:tc>
                  <a:txBody>
                    <a:bodyPr/>
                    <a:lstStyle/>
                    <a:p>
                      <a:pPr marL="0" indent="0" algn="ctr">
                        <a:buNone/>
                      </a:pPr>
                      <a:r>
                        <a:rPr sz="1200">
                          <a:solidFill>
                            <a:srgbClr val="1A1A1A"/>
                          </a:solidFill>
                          <a:latin typeface="Calibri"/>
                          <a:ea typeface="Calibri"/>
                          <a:cs typeface="Calibri"/>
                        </a:rPr>
                        <a:t>$64,424</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EBF7EA"/>
                    </a:solidFill>
                  </a:tcPr>
                </a:tc>
                <a:tc>
                  <a:txBody>
                    <a:bodyPr/>
                    <a:lstStyle/>
                    <a:p>
                      <a:pPr marL="0" indent="0" algn="ctr">
                        <a:buNone/>
                      </a:pPr>
                      <a:r>
                        <a:rPr sz="1200" b="1">
                          <a:solidFill>
                            <a:srgbClr val="1A1A1A"/>
                          </a:solidFill>
                          <a:latin typeface="Calibri"/>
                          <a:ea typeface="Calibri"/>
                          <a:cs typeface="Calibri"/>
                        </a:rPr>
                        <a:t>0.834</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solidFill>
                      <a:srgbClr val="EBF7EA"/>
                    </a:solidFill>
                  </a:tcPr>
                </a:tc>
                <a:extLst>
                  <a:ext uri="{0D108BD9-81ED-4DB2-BD59-A6C34878D82A}">
                    <a16:rowId xmlns:a16="http://schemas.microsoft.com/office/drawing/2014/main" val="10001"/>
                  </a:ext>
                </a:extLst>
              </a:tr>
              <a:tr h="384048">
                <a:tc>
                  <a:txBody>
                    <a:bodyPr/>
                    <a:lstStyle/>
                    <a:p>
                      <a:pPr marL="0" indent="0" algn="ctr">
                        <a:buNone/>
                      </a:pPr>
                      <a:r>
                        <a:rPr sz="1200">
                          <a:solidFill>
                            <a:srgbClr val="1A1A1A"/>
                          </a:solidFill>
                          <a:latin typeface="Calibri"/>
                          <a:ea typeface="Calibri"/>
                          <a:cs typeface="Calibri"/>
                        </a:rPr>
                        <a:t>Gradient Boosting</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tc>
                  <a:txBody>
                    <a:bodyPr/>
                    <a:lstStyle/>
                    <a:p>
                      <a:pPr marL="0" indent="0" algn="ctr">
                        <a:buNone/>
                      </a:pPr>
                      <a:r>
                        <a:rPr sz="1200">
                          <a:solidFill>
                            <a:srgbClr val="1A1A1A"/>
                          </a:solidFill>
                          <a:latin typeface="Calibri"/>
                          <a:ea typeface="Calibri"/>
                          <a:cs typeface="Calibri"/>
                        </a:rPr>
                        <a:t>$33,336</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tc>
                  <a:txBody>
                    <a:bodyPr/>
                    <a:lstStyle/>
                    <a:p>
                      <a:pPr marL="0" indent="0" algn="ctr">
                        <a:buNone/>
                      </a:pPr>
                      <a:r>
                        <a:rPr sz="1200">
                          <a:solidFill>
                            <a:srgbClr val="1A1A1A"/>
                          </a:solidFill>
                          <a:latin typeface="Calibri"/>
                          <a:ea typeface="Calibri"/>
                          <a:cs typeface="Calibri"/>
                        </a:rPr>
                        <a:t>$44,611</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tc>
                  <a:txBody>
                    <a:bodyPr/>
                    <a:lstStyle/>
                    <a:p>
                      <a:pPr marL="0" indent="0" algn="ctr">
                        <a:buNone/>
                      </a:pPr>
                      <a:r>
                        <a:rPr sz="1200">
                          <a:solidFill>
                            <a:srgbClr val="1A1A1A"/>
                          </a:solidFill>
                          <a:latin typeface="Calibri"/>
                          <a:ea typeface="Calibri"/>
                          <a:cs typeface="Calibri"/>
                        </a:rPr>
                        <a:t>$65,024</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tc>
                  <a:txBody>
                    <a:bodyPr/>
                    <a:lstStyle/>
                    <a:p>
                      <a:pPr marL="0" indent="0" algn="ctr">
                        <a:buNone/>
                      </a:pPr>
                      <a:r>
                        <a:rPr sz="1200">
                          <a:solidFill>
                            <a:srgbClr val="1A1A1A"/>
                          </a:solidFill>
                          <a:latin typeface="Calibri"/>
                          <a:ea typeface="Calibri"/>
                          <a:cs typeface="Calibri"/>
                        </a:rPr>
                        <a:t>0.831</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extLst>
                  <a:ext uri="{0D108BD9-81ED-4DB2-BD59-A6C34878D82A}">
                    <a16:rowId xmlns:a16="http://schemas.microsoft.com/office/drawing/2014/main" val="10002"/>
                  </a:ext>
                </a:extLst>
              </a:tr>
              <a:tr h="384048">
                <a:tc>
                  <a:txBody>
                    <a:bodyPr/>
                    <a:lstStyle/>
                    <a:p>
                      <a:pPr marL="0" indent="0" algn="ctr">
                        <a:buNone/>
                      </a:pPr>
                      <a:r>
                        <a:rPr sz="1200">
                          <a:solidFill>
                            <a:srgbClr val="1A1A1A"/>
                          </a:solidFill>
                          <a:latin typeface="Calibri"/>
                          <a:ea typeface="Calibri"/>
                          <a:cs typeface="Calibri"/>
                        </a:rPr>
                        <a:t>Linear Regression</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tc>
                  <a:txBody>
                    <a:bodyPr/>
                    <a:lstStyle/>
                    <a:p>
                      <a:pPr marL="0" indent="0" algn="ctr">
                        <a:buNone/>
                      </a:pPr>
                      <a:r>
                        <a:rPr sz="1200">
                          <a:solidFill>
                            <a:srgbClr val="1A1A1A"/>
                          </a:solidFill>
                          <a:latin typeface="Calibri"/>
                          <a:ea typeface="Calibri"/>
                          <a:cs typeface="Calibri"/>
                        </a:rPr>
                        <a:t>$91,017</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tc>
                  <a:txBody>
                    <a:bodyPr/>
                    <a:lstStyle/>
                    <a:p>
                      <a:pPr marL="0" indent="0" algn="ctr">
                        <a:buNone/>
                      </a:pPr>
                      <a:r>
                        <a:rPr sz="1200">
                          <a:solidFill>
                            <a:srgbClr val="1A1A1A"/>
                          </a:solidFill>
                          <a:latin typeface="Calibri"/>
                          <a:ea typeface="Calibri"/>
                          <a:cs typeface="Calibri"/>
                        </a:rPr>
                        <a:t>$92,220</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tc>
                  <a:txBody>
                    <a:bodyPr/>
                    <a:lstStyle/>
                    <a:p>
                      <a:pPr marL="0" indent="0" algn="ctr">
                        <a:buNone/>
                      </a:pPr>
                      <a:r>
                        <a:rPr sz="1200">
                          <a:solidFill>
                            <a:srgbClr val="1A1A1A"/>
                          </a:solidFill>
                          <a:latin typeface="Calibri"/>
                          <a:ea typeface="Calibri"/>
                          <a:cs typeface="Calibri"/>
                        </a:rPr>
                        <a:t>$116,262</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tc>
                  <a:txBody>
                    <a:bodyPr/>
                    <a:lstStyle/>
                    <a:p>
                      <a:pPr marL="0" indent="0" algn="ctr">
                        <a:buNone/>
                      </a:pPr>
                      <a:r>
                        <a:rPr sz="1200">
                          <a:solidFill>
                            <a:srgbClr val="1A1A1A"/>
                          </a:solidFill>
                          <a:latin typeface="Calibri"/>
                          <a:ea typeface="Calibri"/>
                          <a:cs typeface="Calibri"/>
                        </a:rPr>
                        <a:t>0.459</a:t>
                      </a:r>
                      <a:endParaRPr sz="1200">
                        <a:latin typeface="Calibri"/>
                        <a:ea typeface="Calibri"/>
                        <a:cs typeface="Calibri"/>
                      </a:endParaRPr>
                    </a:p>
                  </a:txBody>
                  <a:tcPr anchor="ctr">
                    <a:lnL w="9525" cmpd="sng">
                      <a:solidFill>
                        <a:srgbClr val="DDDDDD"/>
                      </a:solidFill>
                      <a:prstDash val="solid"/>
                    </a:lnL>
                    <a:lnR w="9525" cmpd="sng">
                      <a:solidFill>
                        <a:srgbClr val="DDDDDD"/>
                      </a:solidFill>
                      <a:prstDash val="solid"/>
                    </a:lnR>
                    <a:lnT w="9525" cmpd="sng">
                      <a:solidFill>
                        <a:srgbClr val="DDDDDD"/>
                      </a:solidFill>
                      <a:prstDash val="solid"/>
                    </a:lnT>
                    <a:lnB w="9525" cmpd="sng">
                      <a:solidFill>
                        <a:srgbClr val="DDDDDD"/>
                      </a:solidFill>
                      <a:prstDash val="solid"/>
                    </a:lnB>
                  </a:tcPr>
                </a:tc>
                <a:extLst>
                  <a:ext uri="{0D108BD9-81ED-4DB2-BD59-A6C34878D82A}">
                    <a16:rowId xmlns:a16="http://schemas.microsoft.com/office/drawing/2014/main" val="10003"/>
                  </a:ext>
                </a:extLst>
              </a:tr>
            </a:tbl>
          </a:graphicData>
        </a:graphic>
      </p:graphicFrame>
      <p:sp>
        <p:nvSpPr>
          <p:cNvPr id="8" name="Text 5">
            <a:extLst>
              <a:ext uri="{FF2B5EF4-FFF2-40B4-BE49-F238E27FC236}">
                <a16:creationId xmlns:a16="http://schemas.microsoft.com/office/drawing/2014/main" id="{9FAE4FF6-76E5-4C9C-B870-45E0B87CA9E2}"/>
              </a:ext>
            </a:extLst>
          </p:cNvPr>
          <p:cNvSpPr>
            <a:spLocks noGrp="1"/>
          </p:cNvSpPr>
          <p:nvPr/>
        </p:nvSpPr>
        <p:spPr>
          <a:xfrm>
            <a:off x="548640" y="3429000"/>
            <a:ext cx="5486400" cy="2194560"/>
          </a:xfrm>
          <a:prstGeom prst="rect">
            <a:avLst/>
          </a:prstGeom>
          <a:noFill/>
        </p:spPr>
        <p:txBody>
          <a:bodyPr wrap="square" lIns="0" tIns="0" rIns="0" bIns="0" anchor="t"/>
          <a:lstStyle/>
          <a:p>
            <a:pPr marL="342900" indent="-342900">
              <a:spcAft>
                <a:spcPts val="600"/>
              </a:spcAft>
              <a:buSzPct val="100000"/>
              <a:buChar char="•"/>
            </a:pPr>
            <a:r>
              <a:rPr sz="1500">
                <a:solidFill>
                  <a:srgbClr val="1A1A1A"/>
                </a:solidFill>
                <a:latin typeface="Calibri"/>
                <a:ea typeface="Calibri"/>
                <a:cs typeface="Calibri"/>
              </a:rPr>
              <a:t>Same 80/20 stratified split shared by all models (fair comparison).</a:t>
            </a:r>
            <a:endParaRPr sz="1500"/>
          </a:p>
          <a:p>
            <a:pPr marL="342900" indent="-342900">
              <a:spcAft>
                <a:spcPts val="600"/>
              </a:spcAft>
              <a:buSzPct val="100000"/>
              <a:buChar char="•"/>
            </a:pPr>
            <a:r>
              <a:rPr sz="1500">
                <a:solidFill>
                  <a:srgbClr val="1A1A1A"/>
                </a:solidFill>
                <a:latin typeface="Calibri"/>
                <a:ea typeface="Calibri"/>
                <a:cs typeface="Calibri"/>
              </a:rPr>
              <a:t>Selection criterion: lowest test MAE → Random Forest (200 trees, absolute-error criterion).</a:t>
            </a:r>
            <a:endParaRPr sz="1500"/>
          </a:p>
          <a:p>
            <a:pPr marL="342900" indent="-342900">
              <a:buSzPct val="100000"/>
              <a:buChar char="•"/>
            </a:pPr>
            <a:r>
              <a:rPr sz="1500">
                <a:solidFill>
                  <a:srgbClr val="1A1A1A"/>
                </a:solidFill>
                <a:latin typeface="Calibri"/>
                <a:ea typeface="Calibri"/>
                <a:cs typeface="Calibri"/>
              </a:rPr>
              <a:t>Nonlinear ensembles halve the error of Linear Regression — price drivers interact nonlinearly.</a:t>
            </a:r>
            <a:endParaRPr sz="1500"/>
          </a:p>
        </p:txBody>
      </p:sp>
      <p:pic>
        <p:nvPicPr>
          <p:cNvPr id="19" name="Image 0"/>
          <p:cNvPicPr>
            <a:picLocks noChangeAspect="1"/>
          </p:cNvPicPr>
          <p:nvPr/>
        </p:nvPicPr>
        <p:blipFill>
          <a:blip r:embed="rId3"/>
          <a:stretch>
            <a:fillRect/>
          </a:stretch>
        </p:blipFill>
        <p:spPr>
          <a:xfrm>
            <a:off x="6355080" y="1417320"/>
            <a:ext cx="5486400" cy="2286000"/>
          </a:xfrm>
          <a:prstGeom prst="rect">
            <a:avLst/>
          </a:prstGeom>
        </p:spPr>
      </p:pic>
      <p:pic>
        <p:nvPicPr>
          <p:cNvPr id="20" name="Image 1"/>
          <p:cNvPicPr>
            <a:picLocks noChangeAspect="1"/>
          </p:cNvPicPr>
          <p:nvPr/>
        </p:nvPicPr>
        <p:blipFill>
          <a:blip r:embed="rId4"/>
          <a:stretch>
            <a:fillRect/>
          </a:stretch>
        </p:blipFill>
        <p:spPr>
          <a:xfrm>
            <a:off x="6995160" y="3886200"/>
            <a:ext cx="3291840" cy="2606040"/>
          </a:xfrm>
          <a:prstGeom prst="rect">
            <a:avLst/>
          </a:prstGeom>
        </p:spPr>
      </p:pic>
    </p:spTree>
    <p:extLst>
      <p:ext uri="{BB962C8B-B14F-4D97-AF65-F5344CB8AC3E}">
        <p14:creationId xmlns:p14="http://schemas.microsoft.com/office/powerpoint/2010/main" val="1646232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2BDBD1D-EF59-47B2-B04E-1021142F3816}"/>
              </a:ext>
            </a:extLst>
          </p:cNvPr>
          <p:cNvSpPr>
            <a:spLocks noGrp="1"/>
          </p:cNvSpPr>
          <p:nvPr/>
        </p:nvSpPr>
        <p:spPr>
          <a:xfrm>
            <a:off x="548640" y="320040"/>
            <a:ext cx="10515600" cy="731520"/>
          </a:xfrm>
          <a:prstGeom prst="rect">
            <a:avLst/>
          </a:prstGeom>
          <a:noFill/>
        </p:spPr>
        <p:txBody>
          <a:bodyPr wrap="square" lIns="0" tIns="0" rIns="0" bIns="0" anchor="ctr"/>
          <a:lstStyle/>
          <a:p>
            <a:pPr marL="0" indent="0" algn="l">
              <a:buNone/>
            </a:pPr>
            <a:r>
              <a:rPr sz="3200" b="1">
                <a:solidFill>
                  <a:srgbClr val="1A1A1A"/>
                </a:solidFill>
                <a:latin typeface="Calibri"/>
                <a:ea typeface="Calibri"/>
                <a:cs typeface="Calibri"/>
              </a:rPr>
              <a:t>Business intelligence</a:t>
            </a:r>
            <a:endParaRPr sz="3200"/>
          </a:p>
        </p:txBody>
      </p:sp>
      <p:sp>
        <p:nvSpPr>
          <p:cNvPr id="3" name="Shape 1">
            <a:extLst>
              <a:ext uri="{FF2B5EF4-FFF2-40B4-BE49-F238E27FC236}">
                <a16:creationId xmlns:a16="http://schemas.microsoft.com/office/drawing/2014/main" id="{42D6B34F-7E0D-4570-98A2-672E79CD0D49}"/>
              </a:ext>
            </a:extLst>
          </p:cNvPr>
          <p:cNvSpPr>
            <a:spLocks noGrp="1"/>
          </p:cNvSpPr>
          <p:nvPr/>
        </p:nvSpPr>
        <p:spPr>
          <a:xfrm>
            <a:off x="11292840" y="502920"/>
            <a:ext cx="128016" cy="128016"/>
          </a:xfrm>
          <a:prstGeom prst="ellipse">
            <a:avLst/>
          </a:prstGeom>
          <a:solidFill>
            <a:srgbClr val="1F6FA8"/>
          </a:solidFill>
        </p:spPr>
        <p:txBody>
          <a:bodyPr/>
          <a:lstStyle/>
          <a:p>
            <a:endParaRPr/>
          </a:p>
        </p:txBody>
      </p:sp>
      <p:sp>
        <p:nvSpPr>
          <p:cNvPr id="4" name="Shape 2">
            <a:extLst>
              <a:ext uri="{FF2B5EF4-FFF2-40B4-BE49-F238E27FC236}">
                <a16:creationId xmlns:a16="http://schemas.microsoft.com/office/drawing/2014/main" id="{DD5ACF84-852F-4B8C-AA56-7022EDEE3727}"/>
              </a:ext>
            </a:extLst>
          </p:cNvPr>
          <p:cNvSpPr>
            <a:spLocks noGrp="1"/>
          </p:cNvSpPr>
          <p:nvPr/>
        </p:nvSpPr>
        <p:spPr>
          <a:xfrm>
            <a:off x="11512296" y="502920"/>
            <a:ext cx="128016" cy="128016"/>
          </a:xfrm>
          <a:prstGeom prst="ellipse">
            <a:avLst/>
          </a:prstGeom>
          <a:solidFill>
            <a:srgbClr val="7C4DA8"/>
          </a:solidFill>
        </p:spPr>
        <p:txBody>
          <a:bodyPr/>
          <a:lstStyle/>
          <a:p>
            <a:endParaRPr/>
          </a:p>
        </p:txBody>
      </p:sp>
      <p:sp>
        <p:nvSpPr>
          <p:cNvPr id="5" name="Shape 3">
            <a:extLst>
              <a:ext uri="{FF2B5EF4-FFF2-40B4-BE49-F238E27FC236}">
                <a16:creationId xmlns:a16="http://schemas.microsoft.com/office/drawing/2014/main" id="{AF57CD68-64B5-404F-AA52-E70B0610466F}"/>
              </a:ext>
            </a:extLst>
          </p:cNvPr>
          <p:cNvSpPr>
            <a:spLocks noGrp="1"/>
          </p:cNvSpPr>
          <p:nvPr/>
        </p:nvSpPr>
        <p:spPr>
          <a:xfrm>
            <a:off x="11731752" y="502920"/>
            <a:ext cx="128016" cy="128016"/>
          </a:xfrm>
          <a:prstGeom prst="ellipse">
            <a:avLst/>
          </a:prstGeom>
          <a:solidFill>
            <a:srgbClr val="2E8B57"/>
          </a:solidFill>
        </p:spPr>
        <p:txBody>
          <a:bodyPr/>
          <a:lstStyle/>
          <a:p>
            <a:endParaRPr/>
          </a:p>
        </p:txBody>
      </p:sp>
      <p:sp>
        <p:nvSpPr>
          <p:cNvPr id="6" name="Shape 4">
            <a:extLst>
              <a:ext uri="{FF2B5EF4-FFF2-40B4-BE49-F238E27FC236}">
                <a16:creationId xmlns:a16="http://schemas.microsoft.com/office/drawing/2014/main" id="{87BF2A11-67AA-45A3-A9FD-3FCDF8A73499}"/>
              </a:ext>
            </a:extLst>
          </p:cNvPr>
          <p:cNvSpPr>
            <a:spLocks noGrp="1"/>
          </p:cNvSpPr>
          <p:nvPr/>
        </p:nvSpPr>
        <p:spPr>
          <a:xfrm>
            <a:off x="11951208" y="502920"/>
            <a:ext cx="128016" cy="128016"/>
          </a:xfrm>
          <a:prstGeom prst="ellipse">
            <a:avLst/>
          </a:prstGeom>
          <a:solidFill>
            <a:srgbClr val="B8860B"/>
          </a:solidFill>
        </p:spPr>
        <p:txBody>
          <a:bodyPr/>
          <a:lstStyle/>
          <a:p>
            <a:endParaRPr/>
          </a:p>
        </p:txBody>
      </p:sp>
      <p:pic>
        <p:nvPicPr>
          <p:cNvPr id="15" name="Image 0"/>
          <p:cNvPicPr>
            <a:picLocks noChangeAspect="1"/>
          </p:cNvPicPr>
          <p:nvPr/>
        </p:nvPicPr>
        <p:blipFill>
          <a:blip r:embed="rId3"/>
          <a:stretch>
            <a:fillRect/>
          </a:stretch>
        </p:blipFill>
        <p:spPr>
          <a:xfrm>
            <a:off x="548640" y="1371600"/>
            <a:ext cx="5760720" cy="4617720"/>
          </a:xfrm>
          <a:prstGeom prst="rect">
            <a:avLst/>
          </a:prstGeom>
        </p:spPr>
      </p:pic>
      <p:sp>
        <p:nvSpPr>
          <p:cNvPr id="8" name="Text 5">
            <a:extLst>
              <a:ext uri="{FF2B5EF4-FFF2-40B4-BE49-F238E27FC236}">
                <a16:creationId xmlns:a16="http://schemas.microsoft.com/office/drawing/2014/main" id="{C4398618-9FFB-4697-B78D-A8EE7B506067}"/>
              </a:ext>
            </a:extLst>
          </p:cNvPr>
          <p:cNvSpPr>
            <a:spLocks noGrp="1"/>
          </p:cNvSpPr>
          <p:nvPr/>
        </p:nvSpPr>
        <p:spPr>
          <a:xfrm>
            <a:off x="6629400" y="1371600"/>
            <a:ext cx="5029200" cy="4937760"/>
          </a:xfrm>
          <a:prstGeom prst="rect">
            <a:avLst/>
          </a:prstGeom>
          <a:noFill/>
        </p:spPr>
        <p:txBody>
          <a:bodyPr wrap="square" lIns="0" tIns="0" rIns="0" bIns="0" anchor="t"/>
          <a:lstStyle/>
          <a:p>
            <a:pPr marL="0" indent="0">
              <a:spcAft>
                <a:spcPts val="800"/>
              </a:spcAft>
              <a:buNone/>
            </a:pPr>
            <a:r>
              <a:rPr sz="1700" b="1">
                <a:solidFill>
                  <a:srgbClr val="B8860B"/>
                </a:solidFill>
                <a:latin typeface="Calibri"/>
                <a:ea typeface="Calibri"/>
                <a:cs typeface="Calibri"/>
              </a:rPr>
              <a:t>Insight</a:t>
            </a:r>
            <a:endParaRPr sz="1500"/>
          </a:p>
          <a:p>
            <a:pPr marL="342900" indent="-342900">
              <a:spcAft>
                <a:spcPts val="800"/>
              </a:spcAft>
              <a:buSzPct val="100000"/>
              <a:buChar char="•"/>
            </a:pPr>
            <a:r>
              <a:rPr sz="1500">
                <a:solidFill>
                  <a:srgbClr val="1A1A1A"/>
                </a:solidFill>
                <a:latin typeface="Calibri"/>
                <a:ea typeface="Calibri"/>
                <a:cs typeface="Calibri"/>
              </a:rPr>
              <a:t>Top drivers: insurance (0.41), year_sold (0.24), property_tax (0.10) — carrying costs and market timing dominate.</a:t>
            </a:r>
            <a:endParaRPr sz="1500"/>
          </a:p>
          <a:p>
            <a:pPr marL="342900" indent="-342900">
              <a:spcAft>
                <a:spcPts val="800"/>
              </a:spcAft>
              <a:buSzPct val="100000"/>
              <a:buChar char="•"/>
            </a:pPr>
            <a:r>
              <a:rPr sz="1500">
                <a:solidFill>
                  <a:srgbClr val="1A1A1A"/>
                </a:solidFill>
                <a:latin typeface="Calibri"/>
                <a:ea typeface="Calibri"/>
                <a:cs typeface="Calibri"/>
              </a:rPr>
              <a:t>Raw size (sqft 0.07) and bed/bath counts matter far less than heuristics assume.</a:t>
            </a:r>
            <a:endParaRPr sz="1500"/>
          </a:p>
          <a:p>
            <a:pPr marL="342900" indent="-342900">
              <a:spcAft>
                <a:spcPts val="1400"/>
              </a:spcAft>
              <a:buSzPct val="100000"/>
              <a:buChar char="•"/>
            </a:pPr>
            <a:r>
              <a:rPr sz="1500">
                <a:solidFill>
                  <a:srgbClr val="1A1A1A"/>
                </a:solidFill>
                <a:latin typeface="Calibri"/>
                <a:ea typeface="Calibri"/>
                <a:cs typeface="Calibri"/>
              </a:rPr>
              <a:t>Property type and basement add almost nothing once costs are known.</a:t>
            </a:r>
            <a:endParaRPr sz="1500"/>
          </a:p>
          <a:p>
            <a:pPr marL="0" indent="0">
              <a:spcAft>
                <a:spcPts val="800"/>
              </a:spcAft>
              <a:buNone/>
            </a:pPr>
            <a:r>
              <a:rPr sz="1700" b="1">
                <a:solidFill>
                  <a:srgbClr val="B8860B"/>
                </a:solidFill>
                <a:latin typeface="Calibri"/>
                <a:ea typeface="Calibri"/>
                <a:cs typeface="Calibri"/>
              </a:rPr>
              <a:t>What to do</a:t>
            </a:r>
            <a:endParaRPr sz="1500"/>
          </a:p>
          <a:p>
            <a:pPr marL="342900" indent="-342900">
              <a:spcAft>
                <a:spcPts val="800"/>
              </a:spcAft>
              <a:buSzPct val="100000"/>
              <a:buChar char="•"/>
            </a:pPr>
            <a:r>
              <a:rPr sz="1500">
                <a:solidFill>
                  <a:srgbClr val="1A1A1A"/>
                </a:solidFill>
                <a:latin typeface="Calibri"/>
                <a:ea typeface="Calibri"/>
                <a:cs typeface="Calibri"/>
              </a:rPr>
              <a:t>Anchor pricing guidelines on the top cost/timing factors, not $/sqft alone.</a:t>
            </a:r>
            <a:endParaRPr sz="1500"/>
          </a:p>
          <a:p>
            <a:pPr marL="342900" indent="-342900">
              <a:spcAft>
                <a:spcPts val="800"/>
              </a:spcAft>
              <a:buSzPct val="100000"/>
              <a:buChar char="•"/>
            </a:pPr>
            <a:r>
              <a:rPr sz="1500">
                <a:solidFill>
                  <a:srgbClr val="1A1A1A"/>
                </a:solidFill>
                <a:latin typeface="Calibri"/>
                <a:ea typeface="Calibri"/>
                <a:cs typeface="Calibri"/>
              </a:rPr>
              <a:t>Flag listings where |actual − predicted| is large (≈ &gt; $44K MAE) for manual review.</a:t>
            </a:r>
            <a:endParaRPr sz="1500"/>
          </a:p>
          <a:p>
            <a:pPr marL="342900" indent="-342900">
              <a:buSzPct val="100000"/>
              <a:buChar char="•"/>
            </a:pPr>
            <a:r>
              <a:rPr sz="1500">
                <a:solidFill>
                  <a:srgbClr val="1A1A1A"/>
                </a:solidFill>
                <a:latin typeface="Calibri"/>
                <a:ea typeface="Calibri"/>
                <a:cs typeface="Calibri"/>
              </a:rPr>
              <a:t>Serve predictions through the Streamlit app next to both heuristics for transparency.</a:t>
            </a:r>
            <a:endParaRPr sz="1500"/>
          </a:p>
        </p:txBody>
      </p:sp>
    </p:spTree>
    <p:extLst>
      <p:ext uri="{BB962C8B-B14F-4D97-AF65-F5344CB8AC3E}">
        <p14:creationId xmlns:p14="http://schemas.microsoft.com/office/powerpoint/2010/main" val="635156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7BCBB1D-6211-44FF-9723-9AD02A8E0281}"/>
              </a:ext>
            </a:extLst>
          </p:cNvPr>
          <p:cNvSpPr>
            <a:spLocks noGrp="1"/>
          </p:cNvSpPr>
          <p:nvPr/>
        </p:nvSpPr>
        <p:spPr>
          <a:xfrm>
            <a:off x="548640" y="320040"/>
            <a:ext cx="10515600" cy="731520"/>
          </a:xfrm>
          <a:prstGeom prst="rect">
            <a:avLst/>
          </a:prstGeom>
          <a:noFill/>
        </p:spPr>
        <p:txBody>
          <a:bodyPr wrap="square" lIns="0" tIns="0" rIns="0" bIns="0" anchor="ctr"/>
          <a:lstStyle/>
          <a:p>
            <a:pPr marL="0" indent="0" algn="l">
              <a:buNone/>
            </a:pPr>
            <a:r>
              <a:rPr sz="3200" b="1">
                <a:solidFill>
                  <a:srgbClr val="1A1A1A"/>
                </a:solidFill>
                <a:latin typeface="Calibri"/>
                <a:ea typeface="Calibri"/>
                <a:cs typeface="Calibri"/>
              </a:rPr>
              <a:t>Caveats</a:t>
            </a:r>
            <a:endParaRPr sz="3200"/>
          </a:p>
        </p:txBody>
      </p:sp>
      <p:sp>
        <p:nvSpPr>
          <p:cNvPr id="3" name="Shape 1">
            <a:extLst>
              <a:ext uri="{FF2B5EF4-FFF2-40B4-BE49-F238E27FC236}">
                <a16:creationId xmlns:a16="http://schemas.microsoft.com/office/drawing/2014/main" id="{25BB7DDA-DC7E-45B9-8C20-E548C57A6551}"/>
              </a:ext>
            </a:extLst>
          </p:cNvPr>
          <p:cNvSpPr>
            <a:spLocks noGrp="1"/>
          </p:cNvSpPr>
          <p:nvPr/>
        </p:nvSpPr>
        <p:spPr>
          <a:xfrm>
            <a:off x="11292840" y="502920"/>
            <a:ext cx="128016" cy="128016"/>
          </a:xfrm>
          <a:prstGeom prst="ellipse">
            <a:avLst/>
          </a:prstGeom>
          <a:solidFill>
            <a:srgbClr val="1F6FA8"/>
          </a:solidFill>
        </p:spPr>
        <p:txBody>
          <a:bodyPr/>
          <a:lstStyle/>
          <a:p>
            <a:endParaRPr/>
          </a:p>
        </p:txBody>
      </p:sp>
      <p:sp>
        <p:nvSpPr>
          <p:cNvPr id="4" name="Shape 2">
            <a:extLst>
              <a:ext uri="{FF2B5EF4-FFF2-40B4-BE49-F238E27FC236}">
                <a16:creationId xmlns:a16="http://schemas.microsoft.com/office/drawing/2014/main" id="{F56A7BB6-C6B1-4F04-9AA5-AB33D7CAE568}"/>
              </a:ext>
            </a:extLst>
          </p:cNvPr>
          <p:cNvSpPr>
            <a:spLocks noGrp="1"/>
          </p:cNvSpPr>
          <p:nvPr/>
        </p:nvSpPr>
        <p:spPr>
          <a:xfrm>
            <a:off x="11512296" y="502920"/>
            <a:ext cx="128016" cy="128016"/>
          </a:xfrm>
          <a:prstGeom prst="ellipse">
            <a:avLst/>
          </a:prstGeom>
          <a:solidFill>
            <a:srgbClr val="7C4DA8"/>
          </a:solidFill>
        </p:spPr>
        <p:txBody>
          <a:bodyPr/>
          <a:lstStyle/>
          <a:p>
            <a:endParaRPr/>
          </a:p>
        </p:txBody>
      </p:sp>
      <p:sp>
        <p:nvSpPr>
          <p:cNvPr id="5" name="Shape 3">
            <a:extLst>
              <a:ext uri="{FF2B5EF4-FFF2-40B4-BE49-F238E27FC236}">
                <a16:creationId xmlns:a16="http://schemas.microsoft.com/office/drawing/2014/main" id="{A8E2DFEA-6036-4F83-9A4B-93DCFD6732BC}"/>
              </a:ext>
            </a:extLst>
          </p:cNvPr>
          <p:cNvSpPr>
            <a:spLocks noGrp="1"/>
          </p:cNvSpPr>
          <p:nvPr/>
        </p:nvSpPr>
        <p:spPr>
          <a:xfrm>
            <a:off x="11731752" y="502920"/>
            <a:ext cx="128016" cy="128016"/>
          </a:xfrm>
          <a:prstGeom prst="ellipse">
            <a:avLst/>
          </a:prstGeom>
          <a:solidFill>
            <a:srgbClr val="2E8B57"/>
          </a:solidFill>
        </p:spPr>
        <p:txBody>
          <a:bodyPr/>
          <a:lstStyle/>
          <a:p>
            <a:endParaRPr/>
          </a:p>
        </p:txBody>
      </p:sp>
      <p:sp>
        <p:nvSpPr>
          <p:cNvPr id="6" name="Shape 4">
            <a:extLst>
              <a:ext uri="{FF2B5EF4-FFF2-40B4-BE49-F238E27FC236}">
                <a16:creationId xmlns:a16="http://schemas.microsoft.com/office/drawing/2014/main" id="{3595EAD3-A642-4915-8876-21FE780AA513}"/>
              </a:ext>
            </a:extLst>
          </p:cNvPr>
          <p:cNvSpPr>
            <a:spLocks noGrp="1"/>
          </p:cNvSpPr>
          <p:nvPr/>
        </p:nvSpPr>
        <p:spPr>
          <a:xfrm>
            <a:off x="11951208" y="502920"/>
            <a:ext cx="128016" cy="128016"/>
          </a:xfrm>
          <a:prstGeom prst="ellipse">
            <a:avLst/>
          </a:prstGeom>
          <a:solidFill>
            <a:srgbClr val="B8860B"/>
          </a:solidFill>
        </p:spPr>
        <p:txBody>
          <a:bodyPr/>
          <a:lstStyle/>
          <a:p>
            <a:endParaRPr/>
          </a:p>
        </p:txBody>
      </p:sp>
      <p:sp>
        <p:nvSpPr>
          <p:cNvPr id="7" name="Shape 5">
            <a:extLst>
              <a:ext uri="{FF2B5EF4-FFF2-40B4-BE49-F238E27FC236}">
                <a16:creationId xmlns:a16="http://schemas.microsoft.com/office/drawing/2014/main" id="{B22E6078-4ADB-4BAC-A1D2-1400D4BBA2F8}"/>
              </a:ext>
            </a:extLst>
          </p:cNvPr>
          <p:cNvSpPr>
            <a:spLocks noGrp="1"/>
          </p:cNvSpPr>
          <p:nvPr/>
        </p:nvSpPr>
        <p:spPr>
          <a:xfrm>
            <a:off x="548640" y="1417320"/>
            <a:ext cx="5440680" cy="2148840"/>
          </a:xfrm>
          <a:prstGeom prst="roundRect">
            <a:avLst>
              <a:gd name="adj" fmla="val 3404"/>
            </a:avLst>
          </a:prstGeom>
          <a:solidFill>
            <a:srgbClr val="EBF7EA"/>
          </a:solidFill>
          <a:ln w="19050">
            <a:solidFill>
              <a:srgbClr val="A8E6A3"/>
            </a:solidFill>
            <a:prstDash val="solid"/>
          </a:ln>
        </p:spPr>
        <p:txBody>
          <a:bodyPr/>
          <a:lstStyle/>
          <a:p>
            <a:endParaRPr/>
          </a:p>
        </p:txBody>
      </p:sp>
      <p:sp>
        <p:nvSpPr>
          <p:cNvPr id="8" name="Text 6">
            <a:extLst>
              <a:ext uri="{FF2B5EF4-FFF2-40B4-BE49-F238E27FC236}">
                <a16:creationId xmlns:a16="http://schemas.microsoft.com/office/drawing/2014/main" id="{7C064A67-41D7-49B9-920F-C07DA737C039}"/>
              </a:ext>
            </a:extLst>
          </p:cNvPr>
          <p:cNvSpPr>
            <a:spLocks noGrp="1"/>
          </p:cNvSpPr>
          <p:nvPr/>
        </p:nvSpPr>
        <p:spPr>
          <a:xfrm>
            <a:off x="822960" y="1600200"/>
            <a:ext cx="4892040" cy="411480"/>
          </a:xfrm>
          <a:prstGeom prst="rect">
            <a:avLst/>
          </a:prstGeom>
          <a:noFill/>
        </p:spPr>
        <p:txBody>
          <a:bodyPr wrap="square" lIns="0" tIns="0" rIns="0" bIns="0" anchor="ctr"/>
          <a:lstStyle/>
          <a:p>
            <a:pPr marL="0" indent="0">
              <a:buNone/>
            </a:pPr>
            <a:r>
              <a:rPr sz="1700" b="1">
                <a:solidFill>
                  <a:srgbClr val="1A1A1A"/>
                </a:solidFill>
                <a:latin typeface="Calibri"/>
                <a:ea typeface="Calibri"/>
                <a:cs typeface="Calibri"/>
              </a:rPr>
              <a:t>Overfitting gap</a:t>
            </a:r>
            <a:endParaRPr sz="1700"/>
          </a:p>
        </p:txBody>
      </p:sp>
      <p:sp>
        <p:nvSpPr>
          <p:cNvPr id="9" name="Text 7">
            <a:extLst>
              <a:ext uri="{FF2B5EF4-FFF2-40B4-BE49-F238E27FC236}">
                <a16:creationId xmlns:a16="http://schemas.microsoft.com/office/drawing/2014/main" id="{74471329-7C34-4426-8546-DE340EA07E07}"/>
              </a:ext>
            </a:extLst>
          </p:cNvPr>
          <p:cNvSpPr>
            <a:spLocks noGrp="1"/>
          </p:cNvSpPr>
          <p:nvPr/>
        </p:nvSpPr>
        <p:spPr>
          <a:xfrm>
            <a:off x="822960" y="1978377"/>
            <a:ext cx="4892040" cy="1371600"/>
          </a:xfrm>
          <a:prstGeom prst="rect">
            <a:avLst/>
          </a:prstGeom>
          <a:noFill/>
        </p:spPr>
        <p:txBody>
          <a:bodyPr wrap="square" lIns="0" tIns="0" rIns="0" bIns="0" anchor="t"/>
          <a:lstStyle/>
          <a:p>
            <a:r>
              <a:rPr sz="1400"/>
              <a:t>The Random Forest achieved a much lower MAE on the training data ($17.6K) than on the test data ($43.8K), showing that it fits the training observations well but does not generalize equally well to unseen cases. This large performance gap provides evidence of overfitting, meaning the ensemble has learned not only meaningful patterns but also noise specific to the training set. Therefore, although the training result appe</a:t>
            </a:r>
          </a:p>
        </p:txBody>
      </p:sp>
      <p:sp>
        <p:nvSpPr>
          <p:cNvPr id="10" name="Shape 8">
            <a:extLst>
              <a:ext uri="{FF2B5EF4-FFF2-40B4-BE49-F238E27FC236}">
                <a16:creationId xmlns:a16="http://schemas.microsoft.com/office/drawing/2014/main" id="{357AD4C5-A8E5-462D-AB92-4FD4533D1CC0}"/>
              </a:ext>
            </a:extLst>
          </p:cNvPr>
          <p:cNvSpPr>
            <a:spLocks noGrp="1"/>
          </p:cNvSpPr>
          <p:nvPr/>
        </p:nvSpPr>
        <p:spPr>
          <a:xfrm>
            <a:off x="6309360" y="1417320"/>
            <a:ext cx="5440680" cy="2148840"/>
          </a:xfrm>
          <a:prstGeom prst="roundRect">
            <a:avLst>
              <a:gd name="adj" fmla="val 3404"/>
            </a:avLst>
          </a:prstGeom>
          <a:solidFill>
            <a:srgbClr val="F4EDFA"/>
          </a:solidFill>
          <a:ln w="19050">
            <a:solidFill>
              <a:srgbClr val="C9A6E8"/>
            </a:solidFill>
            <a:prstDash val="solid"/>
          </a:ln>
        </p:spPr>
        <p:txBody>
          <a:bodyPr/>
          <a:lstStyle/>
          <a:p>
            <a:endParaRPr/>
          </a:p>
        </p:txBody>
      </p:sp>
      <p:sp>
        <p:nvSpPr>
          <p:cNvPr id="11" name="Text 9">
            <a:extLst>
              <a:ext uri="{FF2B5EF4-FFF2-40B4-BE49-F238E27FC236}">
                <a16:creationId xmlns:a16="http://schemas.microsoft.com/office/drawing/2014/main" id="{D3D8C496-8670-4CBA-8733-2B0975AA0B62}"/>
              </a:ext>
            </a:extLst>
          </p:cNvPr>
          <p:cNvSpPr>
            <a:spLocks noGrp="1"/>
          </p:cNvSpPr>
          <p:nvPr/>
        </p:nvSpPr>
        <p:spPr>
          <a:xfrm>
            <a:off x="6583680" y="1600200"/>
            <a:ext cx="4892040" cy="411480"/>
          </a:xfrm>
          <a:prstGeom prst="rect">
            <a:avLst/>
          </a:prstGeom>
          <a:noFill/>
        </p:spPr>
        <p:txBody>
          <a:bodyPr wrap="square" lIns="0" tIns="0" rIns="0" bIns="0" anchor="ctr"/>
          <a:lstStyle/>
          <a:p>
            <a:pPr marL="0" indent="0">
              <a:buNone/>
            </a:pPr>
            <a:r>
              <a:rPr sz="1700" b="1">
                <a:solidFill>
                  <a:srgbClr val="1A1A1A"/>
                </a:solidFill>
                <a:latin typeface="Calibri"/>
                <a:ea typeface="Calibri"/>
                <a:cs typeface="Calibri"/>
              </a:rPr>
              <a:t>Proxy features</a:t>
            </a:r>
            <a:endParaRPr sz="1700"/>
          </a:p>
        </p:txBody>
      </p:sp>
      <p:sp>
        <p:nvSpPr>
          <p:cNvPr id="12" name="Text 10">
            <a:extLst>
              <a:ext uri="{FF2B5EF4-FFF2-40B4-BE49-F238E27FC236}">
                <a16:creationId xmlns:a16="http://schemas.microsoft.com/office/drawing/2014/main" id="{A0C8370C-3DCB-4B11-8C17-0DECF5249346}"/>
              </a:ext>
            </a:extLst>
          </p:cNvPr>
          <p:cNvSpPr>
            <a:spLocks noGrp="1"/>
          </p:cNvSpPr>
          <p:nvPr/>
        </p:nvSpPr>
        <p:spPr>
          <a:xfrm>
            <a:off x="6583680" y="2057400"/>
            <a:ext cx="4892040" cy="1371600"/>
          </a:xfrm>
          <a:prstGeom prst="rect">
            <a:avLst/>
          </a:prstGeom>
          <a:noFill/>
        </p:spPr>
        <p:txBody>
          <a:bodyPr wrap="square" lIns="0" tIns="0" rIns="0" bIns="0" anchor="t"/>
          <a:lstStyle/>
          <a:p>
            <a:pPr marL="0" indent="0">
              <a:buNone/>
            </a:pPr>
            <a:r>
              <a:rPr sz="1400">
                <a:solidFill>
                  <a:srgbClr val="1A1A1A"/>
                </a:solidFill>
                <a:latin typeface="Calibri"/>
                <a:ea typeface="Calibri"/>
                <a:cs typeface="Calibri"/>
              </a:rPr>
              <a:t>In heatmap, property_tax and insurance correlate 0.98 and are partly consequences of value — useful for valuation review, risky for pure forecasting.</a:t>
            </a:r>
            <a:endParaRPr sz="1400"/>
          </a:p>
        </p:txBody>
      </p:sp>
      <p:sp>
        <p:nvSpPr>
          <p:cNvPr id="13" name="Shape 11">
            <a:extLst>
              <a:ext uri="{FF2B5EF4-FFF2-40B4-BE49-F238E27FC236}">
                <a16:creationId xmlns:a16="http://schemas.microsoft.com/office/drawing/2014/main" id="{1F228FBD-F73E-4DEF-B4F5-4A037F0EA162}"/>
              </a:ext>
            </a:extLst>
          </p:cNvPr>
          <p:cNvSpPr>
            <a:spLocks noGrp="1"/>
          </p:cNvSpPr>
          <p:nvPr/>
        </p:nvSpPr>
        <p:spPr>
          <a:xfrm>
            <a:off x="548640" y="3840480"/>
            <a:ext cx="5440680" cy="2148840"/>
          </a:xfrm>
          <a:prstGeom prst="roundRect">
            <a:avLst>
              <a:gd name="adj" fmla="val 3404"/>
            </a:avLst>
          </a:prstGeom>
          <a:solidFill>
            <a:srgbClr val="EAF4FB"/>
          </a:solidFill>
          <a:ln w="19050">
            <a:solidFill>
              <a:srgbClr val="8EC9F0"/>
            </a:solidFill>
            <a:prstDash val="solid"/>
          </a:ln>
        </p:spPr>
        <p:txBody>
          <a:bodyPr/>
          <a:lstStyle/>
          <a:p>
            <a:endParaRPr/>
          </a:p>
        </p:txBody>
      </p:sp>
      <p:sp>
        <p:nvSpPr>
          <p:cNvPr id="14" name="Text 12">
            <a:extLst>
              <a:ext uri="{FF2B5EF4-FFF2-40B4-BE49-F238E27FC236}">
                <a16:creationId xmlns:a16="http://schemas.microsoft.com/office/drawing/2014/main" id="{7AC3E8C5-1505-46BE-89D6-4898A2436117}"/>
              </a:ext>
            </a:extLst>
          </p:cNvPr>
          <p:cNvSpPr>
            <a:spLocks noGrp="1"/>
          </p:cNvSpPr>
          <p:nvPr/>
        </p:nvSpPr>
        <p:spPr>
          <a:xfrm>
            <a:off x="822960" y="4023360"/>
            <a:ext cx="4892040" cy="411480"/>
          </a:xfrm>
          <a:prstGeom prst="rect">
            <a:avLst/>
          </a:prstGeom>
          <a:noFill/>
        </p:spPr>
        <p:txBody>
          <a:bodyPr wrap="square" lIns="0" tIns="0" rIns="0" bIns="0" anchor="ctr"/>
          <a:lstStyle/>
          <a:p>
            <a:pPr marL="0" indent="0">
              <a:buNone/>
            </a:pPr>
            <a:r>
              <a:rPr sz="1700" b="1">
                <a:solidFill>
                  <a:srgbClr val="1A1A1A"/>
                </a:solidFill>
                <a:latin typeface="Calibri"/>
                <a:ea typeface="Calibri"/>
                <a:cs typeface="Calibri"/>
              </a:rPr>
              <a:t>No location data</a:t>
            </a:r>
            <a:endParaRPr sz="1700"/>
          </a:p>
        </p:txBody>
      </p:sp>
      <p:sp>
        <p:nvSpPr>
          <p:cNvPr id="15" name="Text 13">
            <a:extLst>
              <a:ext uri="{FF2B5EF4-FFF2-40B4-BE49-F238E27FC236}">
                <a16:creationId xmlns:a16="http://schemas.microsoft.com/office/drawing/2014/main" id="{FA20C8F1-C02B-4301-A5CF-485FE5D9944D}"/>
              </a:ext>
            </a:extLst>
          </p:cNvPr>
          <p:cNvSpPr>
            <a:spLocks noGrp="1"/>
          </p:cNvSpPr>
          <p:nvPr/>
        </p:nvSpPr>
        <p:spPr>
          <a:xfrm>
            <a:off x="822960" y="4480560"/>
            <a:ext cx="4892040" cy="1371600"/>
          </a:xfrm>
          <a:prstGeom prst="rect">
            <a:avLst/>
          </a:prstGeom>
          <a:noFill/>
        </p:spPr>
        <p:txBody>
          <a:bodyPr wrap="square" lIns="0" tIns="0" rIns="0" bIns="0" anchor="t"/>
          <a:lstStyle/>
          <a:p>
            <a:r>
              <a:rPr sz="1400"/>
              <a:t>The model excludes neighborhood, school, geographic, and urban–remote location features, leaving a substantial share of real-estate price variation unexplained and limiting its pricing accuracy.</a:t>
            </a:r>
          </a:p>
        </p:txBody>
      </p:sp>
      <p:sp>
        <p:nvSpPr>
          <p:cNvPr id="16" name="Shape 14">
            <a:extLst>
              <a:ext uri="{FF2B5EF4-FFF2-40B4-BE49-F238E27FC236}">
                <a16:creationId xmlns:a16="http://schemas.microsoft.com/office/drawing/2014/main" id="{B4EB9605-7DE9-404B-A3BD-2F378F7CAABE}"/>
              </a:ext>
            </a:extLst>
          </p:cNvPr>
          <p:cNvSpPr>
            <a:spLocks noGrp="1"/>
          </p:cNvSpPr>
          <p:nvPr/>
        </p:nvSpPr>
        <p:spPr>
          <a:xfrm>
            <a:off x="6309360" y="3840480"/>
            <a:ext cx="5440680" cy="2148840"/>
          </a:xfrm>
          <a:prstGeom prst="roundRect">
            <a:avLst>
              <a:gd name="adj" fmla="val 3404"/>
            </a:avLst>
          </a:prstGeom>
          <a:solidFill>
            <a:srgbClr val="FDF8E2"/>
          </a:solidFill>
          <a:ln w="19050">
            <a:solidFill>
              <a:srgbClr val="FFF09E"/>
            </a:solidFill>
            <a:prstDash val="solid"/>
          </a:ln>
        </p:spPr>
        <p:txBody>
          <a:bodyPr/>
          <a:lstStyle/>
          <a:p>
            <a:endParaRPr/>
          </a:p>
        </p:txBody>
      </p:sp>
      <p:sp>
        <p:nvSpPr>
          <p:cNvPr id="17" name="Text 15">
            <a:extLst>
              <a:ext uri="{FF2B5EF4-FFF2-40B4-BE49-F238E27FC236}">
                <a16:creationId xmlns:a16="http://schemas.microsoft.com/office/drawing/2014/main" id="{880EEE3E-2198-4F65-B6F2-8B1CB8FD0CF4}"/>
              </a:ext>
            </a:extLst>
          </p:cNvPr>
          <p:cNvSpPr>
            <a:spLocks noGrp="1"/>
          </p:cNvSpPr>
          <p:nvPr/>
        </p:nvSpPr>
        <p:spPr>
          <a:xfrm>
            <a:off x="6583680" y="4023360"/>
            <a:ext cx="4892040" cy="411480"/>
          </a:xfrm>
          <a:prstGeom prst="rect">
            <a:avLst/>
          </a:prstGeom>
          <a:noFill/>
        </p:spPr>
        <p:txBody>
          <a:bodyPr wrap="square" lIns="0" tIns="0" rIns="0" bIns="0" anchor="ctr"/>
          <a:lstStyle/>
          <a:p>
            <a:pPr marL="0" indent="0">
              <a:buNone/>
            </a:pPr>
            <a:r>
              <a:rPr sz="1700" b="1">
                <a:solidFill>
                  <a:srgbClr val="1A1A1A"/>
                </a:solidFill>
                <a:latin typeface="Calibri"/>
                <a:ea typeface="Calibri"/>
                <a:cs typeface="Calibri"/>
              </a:rPr>
              <a:t>Static snapshot</a:t>
            </a:r>
            <a:endParaRPr sz="1700"/>
          </a:p>
        </p:txBody>
      </p:sp>
      <p:sp>
        <p:nvSpPr>
          <p:cNvPr id="18" name="Text 16">
            <a:extLst>
              <a:ext uri="{FF2B5EF4-FFF2-40B4-BE49-F238E27FC236}">
                <a16:creationId xmlns:a16="http://schemas.microsoft.com/office/drawing/2014/main" id="{4B35D4C3-C433-472B-9897-1BBCE313F092}"/>
              </a:ext>
            </a:extLst>
          </p:cNvPr>
          <p:cNvSpPr>
            <a:spLocks noGrp="1"/>
          </p:cNvSpPr>
          <p:nvPr/>
        </p:nvSpPr>
        <p:spPr>
          <a:xfrm>
            <a:off x="6583680" y="4480560"/>
            <a:ext cx="4892040" cy="1371600"/>
          </a:xfrm>
          <a:prstGeom prst="rect">
            <a:avLst/>
          </a:prstGeom>
          <a:noFill/>
        </p:spPr>
        <p:txBody>
          <a:bodyPr wrap="square" lIns="0" tIns="0" rIns="0" bIns="0" anchor="t"/>
          <a:lstStyle/>
          <a:p>
            <a:r>
              <a:rPr sz="1400"/>
              <a:t>Because sales span multiple years without inflation adjustment, the model should be redesigned to incorporate these conditions and retrained as market conditions change</a:t>
            </a:r>
          </a:p>
        </p:txBody>
      </p:sp>
    </p:spTree>
    <p:extLst>
      <p:ext uri="{BB962C8B-B14F-4D97-AF65-F5344CB8AC3E}">
        <p14:creationId xmlns:p14="http://schemas.microsoft.com/office/powerpoint/2010/main" val="1640860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1646</Words>
  <Application>Microsoft Macintosh PowerPoint</Application>
  <DocSecurity>0</DocSecurity>
  <PresentationFormat>Widescreen</PresentationFormat>
  <Paragraphs>100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Donghwan Won</cp:lastModifiedBy>
  <cp:revision>1</cp:revision>
  <dcterms:created xsi:type="dcterms:W3CDTF">2026-08-06T16:23:16Z</dcterms:created>
  <dcterms:modified xsi:type="dcterms:W3CDTF">2026-08-06T17:13:52Z</dcterms:modified>
</cp:coreProperties>
</file>